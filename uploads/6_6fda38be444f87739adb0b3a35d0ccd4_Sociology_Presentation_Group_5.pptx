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87" r:id="rId4"/>
    <p:sldId id="283" r:id="rId5"/>
    <p:sldId id="284" r:id="rId6"/>
    <p:sldId id="285" r:id="rId7"/>
    <p:sldId id="286" r:id="rId8"/>
    <p:sldId id="260" r:id="rId9"/>
    <p:sldId id="261" r:id="rId10"/>
    <p:sldId id="262" r:id="rId11"/>
    <p:sldId id="263" r:id="rId12"/>
    <p:sldId id="280" r:id="rId13"/>
    <p:sldId id="264" r:id="rId14"/>
    <p:sldId id="275" r:id="rId15"/>
    <p:sldId id="268" r:id="rId16"/>
    <p:sldId id="274" r:id="rId17"/>
    <p:sldId id="277" r:id="rId18"/>
    <p:sldId id="276" r:id="rId19"/>
    <p:sldId id="278" r:id="rId20"/>
    <p:sldId id="279" r:id="rId21"/>
    <p:sldId id="265" r:id="rId22"/>
    <p:sldId id="269" r:id="rId23"/>
    <p:sldId id="288" r:id="rId24"/>
    <p:sldId id="289" r:id="rId25"/>
    <p:sldId id="290" r:id="rId26"/>
    <p:sldId id="291" r:id="rId27"/>
    <p:sldId id="292" r:id="rId28"/>
    <p:sldId id="293" r:id="rId29"/>
    <p:sldId id="266" r:id="rId30"/>
    <p:sldId id="270" r:id="rId31"/>
    <p:sldId id="294" r:id="rId32"/>
    <p:sldId id="295" r:id="rId33"/>
    <p:sldId id="296" r:id="rId34"/>
    <p:sldId id="297" r:id="rId35"/>
    <p:sldId id="267" r:id="rId36"/>
    <p:sldId id="271" r:id="rId37"/>
    <p:sldId id="298" r:id="rId38"/>
    <p:sldId id="299" r:id="rId39"/>
    <p:sldId id="273" r:id="rId4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C674"/>
    <a:srgbClr val="73B149"/>
    <a:srgbClr val="000000"/>
    <a:srgbClr val="2E6B2E"/>
    <a:srgbClr val="2659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95918" autoAdjust="0"/>
  </p:normalViewPr>
  <p:slideViewPr>
    <p:cSldViewPr snapToGrid="0">
      <p:cViewPr varScale="1">
        <p:scale>
          <a:sx n="94" d="100"/>
          <a:sy n="94" d="100"/>
        </p:scale>
        <p:origin x="83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BE239-2B1D-4125-8416-217B8BC130E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B99C5-4F70-43C6-88B1-BEFD7D67D3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0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75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0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16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7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05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B99C5-4F70-43C6-88B1-BEFD7D67D3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34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B99C5-4F70-43C6-88B1-BEFD7D67D3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92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B99C5-4F70-43C6-88B1-BEFD7D67D3E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40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D1BE19-E781-4A76-9534-6AA8E1E5D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566B573-1C84-4240-8C01-2DDEE6B90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6278631-F7F4-4358-AA4A-12A44179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695C554-88AC-4F59-8D20-F10EB6B2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B13B2C-94C2-4891-8B25-80B4C736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9056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6110E7-6892-4CB7-8C88-B61FD0D8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002417-7FCF-4F39-AAF7-ED8EA81BE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B2F84E6-8F23-4376-BAA4-01C0AB19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FB063F-0F95-439E-A4DE-60074724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668DD5A-6682-4DA0-A87E-08C2E606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7431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A4620F-FFB7-4F90-9C2C-2E14B63A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10D3103-30CB-46F1-9937-623FF6E77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F96CE8-7700-405C-B8AC-18A42ECC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C975E98-A2B0-49DB-8982-C9E6696C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F6BC79-CB92-4FED-AF74-267D55F2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223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C433E8-C83A-4E6A-B2FC-FDDC8D9A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941358A-EC1C-4E90-998A-823CD9805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2852838-5795-4F8D-A64E-087AA23C1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7E0962F-0069-4B71-8368-86F593A0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B58DA89-D4B1-4589-8413-A2298D7A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D6BACCB-F7BB-4E20-93B7-0369E075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6482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E47126-2C84-4EB0-AF62-16414B2E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B5A025-F4EC-40C1-A24E-45F67C75A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183C0D1-060B-4819-98FB-9AEA867A0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AF449F8-0E47-4DAC-B332-5EC345456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A938921-4D01-4BF4-963B-4A30DC3E2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8E8C821-D83C-43DC-AF70-A5C3E59A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50635A7-F445-41FD-934E-0F98A7E3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5182C1D-49AC-44FE-A291-20E21C81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389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E10968-34A2-4AB4-8A52-E3057021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3F5C248-64F6-4957-BA54-F52CBBBF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56A4A9F-18CA-4734-8CE2-34B65937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3C2AE79-E8B6-4BB8-966E-28D1B914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5417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48B7C41-BED5-4B82-936B-18DE1BE5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89B5460-E170-4682-A51D-B60C809B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217C7-1B05-47EE-8C1C-ED69DFF5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241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1A294D-71A7-4445-969D-822A352B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C30518D-A968-46D0-8D75-162C95614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0531A79-7DCE-45C4-838E-2D20A33C2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1DAECA5-EBA7-4CAB-892A-4839DD12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48CC20F-09A3-419D-8810-4769C2C0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C72B0C1-B94B-483E-A1B5-BF7721CA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3310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8BE352-0C43-4D9B-BF9B-D2EAF3D8C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E9DDA20-1D8D-4759-942F-3450B169D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8926E8A-FFC9-4735-BBDE-ADC87095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69B6F73-C24B-4F27-81A1-C2A6F7A0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43FC386-B32A-4B37-85F7-916792FD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BFCA4E5-4280-4F15-8E0A-77872F3F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5822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64927F-9894-4E9D-961A-EA58F57A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A2DBCC7-FE03-4A36-8643-E58FF96C8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8A7532-E87C-4244-A7A0-F2E45531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41FE84C-5EA9-4D2F-BE9C-706B82ED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C6D3D4-520F-4070-AABE-EEAFAB78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3638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66DB189-DC43-4B53-8411-C487721BC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C0512F8-86BF-4219-A5D0-FDCDC66FB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1AC9289-0B95-4924-AE9D-8924A771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9AD668-1E86-45E4-ABF1-7990BB7B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B7D139C-3FB6-49DB-9058-D8A15AB4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68127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1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008EA54-027D-460D-B00F-35470DDC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103CB4-235D-49D0-9AFF-9FFAE1549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F5D299-DA46-48D0-8A4E-E22EBF554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14E8E-DB5F-4CE0-A0E2-190F1DB6936E}" type="datetimeFigureOut">
              <a:rPr lang="x-none" smtClean="0"/>
              <a:t>5/10/2026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0E17591-FA87-49C8-B71D-46A6F96D3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E6FEB8-0618-45AD-8002-71EB20C70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BB99A-9154-4FAA-8509-48B04E5B265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7805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3" Type="http://schemas.microsoft.com/office/2007/relationships/hdphoto" Target="../media/hdphoto3.wdp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3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9.svg"/><Relationship Id="rId4" Type="http://schemas.openxmlformats.org/officeDocument/2006/relationships/hyperlink" Target="https://www.vecteezy.com/vector-art/47094067-socialization-communication-skill-development-people-interacting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www.vecteezy.com/vector-art/47094067-socialization-communication-skill-development-people-interacting" TargetMode="External"/><Relationship Id="rId4" Type="http://schemas.microsoft.com/office/2007/relationships/hdphoto" Target="../media/hdphoto3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www.vecteezy.com/vector-art/47094067-socialization-communication-skill-development-people-interacting" TargetMode="External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hyperlink" Target="https://www.vecteezy.com/vector-art/47094067-socialization-communication-skill-development-people-interacting" TargetMode="External"/><Relationship Id="rId4" Type="http://schemas.microsoft.com/office/2007/relationships/hdphoto" Target="../media/hdphoto3.wdp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microsoft.com/office/2007/relationships/hdphoto" Target="../media/hdphoto3.wdp"/><Relationship Id="rId7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25.png"/><Relationship Id="rId4" Type="http://schemas.openxmlformats.org/officeDocument/2006/relationships/hyperlink" Target="https://www.vecteezy.com/vector-art/47094067-socialization-communication-skill-development-people-interacting" TargetMode="External"/><Relationship Id="rId9" Type="http://schemas.openxmlformats.org/officeDocument/2006/relationships/image" Target="../media/image35.sv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vecteezy.com/vector-art/47094067-socialization-communication-skill-development-people-interac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072965" y="851647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389593" y="-92552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2236918" y="3165521"/>
            <a:ext cx="3926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Sociology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974014" y="3842193"/>
            <a:ext cx="645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Socialization and Personality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3832397" y="4810746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and Status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899DD8F-0C41-48F9-98D9-165F8931DC7E}"/>
              </a:ext>
            </a:extLst>
          </p:cNvPr>
          <p:cNvSpPr txBox="1"/>
          <p:nvPr/>
        </p:nvSpPr>
        <p:spPr>
          <a:xfrm>
            <a:off x="2236918" y="4459418"/>
            <a:ext cx="1837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of</a:t>
            </a:r>
          </a:p>
          <a:p>
            <a:pPr algn="just"/>
            <a:r>
              <a:rPr lang="en-GB" sz="24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x-none" sz="24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97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14477" y="359295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0925087" y="3650869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342182" y="119960"/>
            <a:ext cx="721481" cy="714229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F8BB2F3-A0EB-4DF3-A8E0-866589D55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17573"/>
              </p:ext>
            </p:extLst>
          </p:nvPr>
        </p:nvGraphicFramePr>
        <p:xfrm>
          <a:off x="2090037" y="689812"/>
          <a:ext cx="8128000" cy="530993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064000">
                  <a:extLst>
                    <a:ext uri="{9D8B030D-6E8A-4147-A177-3AD203B41FA5}">
                      <a16:colId xmlns="" xmlns:a16="http://schemas.microsoft.com/office/drawing/2014/main" val="2476995002"/>
                    </a:ext>
                  </a:extLst>
                </a:gridCol>
                <a:gridCol w="4064000">
                  <a:extLst>
                    <a:ext uri="{9D8B030D-6E8A-4147-A177-3AD203B41FA5}">
                      <a16:colId xmlns="" xmlns:a16="http://schemas.microsoft.com/office/drawing/2014/main" val="925329071"/>
                    </a:ext>
                  </a:extLst>
                </a:gridCol>
              </a:tblGrid>
              <a:tr h="1394528">
                <a:tc>
                  <a:txBody>
                    <a:bodyPr/>
                    <a:lstStyle/>
                    <a:p>
                      <a:pPr algn="ctr"/>
                      <a:endParaRPr lang="en-GB" sz="2800" kern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28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</a:t>
                      </a:r>
                      <a:endParaRPr lang="x-none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Topics</a:t>
                      </a:r>
                      <a:endParaRPr lang="x-none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x-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441143480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Laiba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Javed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6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2225165013</a:t>
                      </a:r>
                      <a:endParaRPr lang="x-none" sz="1600" b="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and Role Set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44588225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Mehnoor Fayyaz</a:t>
                      </a:r>
                    </a:p>
                    <a:p>
                      <a:pPr algn="ctr"/>
                      <a:r>
                        <a:rPr lang="en-GB" sz="16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2225165017</a:t>
                      </a:r>
                      <a:endParaRPr lang="x-none" sz="1600" b="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Conflict and Role Strain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270513140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Walisha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Tahir</a:t>
                      </a:r>
                    </a:p>
                    <a:p>
                      <a:pPr algn="ctr"/>
                      <a:r>
                        <a:rPr lang="en-GB" sz="16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2225165031</a:t>
                      </a:r>
                      <a:endParaRPr lang="x-none" sz="1600" b="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Expectation and Role Performance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011869560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Nimra Khan </a:t>
                      </a:r>
                    </a:p>
                    <a:p>
                      <a:pPr algn="ctr"/>
                      <a:r>
                        <a:rPr lang="en-GB" sz="16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2225165021</a:t>
                      </a:r>
                      <a:endParaRPr lang="x-none" sz="1600" b="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and Master Status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086448066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Laiba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Zafar</a:t>
                      </a:r>
                    </a:p>
                    <a:p>
                      <a:pPr algn="ctr"/>
                      <a:r>
                        <a:rPr lang="en-GB" sz="16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2225165014</a:t>
                      </a:r>
                      <a:endParaRPr lang="x-none" sz="1600" b="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Ascribed Status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364768675"/>
                  </a:ext>
                </a:extLst>
              </a:tr>
              <a:tr h="652568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Alishba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Aymen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6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2225165001</a:t>
                      </a:r>
                      <a:endParaRPr lang="x-none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Status and Conclusion</a:t>
                      </a:r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5285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52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487680"/>
            <a:ext cx="6096000" cy="6096000"/>
          </a:xfrm>
          <a:prstGeom prst="ellipse">
            <a:avLst/>
          </a:prstGeom>
          <a:solidFill>
            <a:srgbClr val="1F4F1F"/>
          </a:solidFill>
          <a:ln w="12700">
            <a:solidFill>
              <a:srgbClr val="1F4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0560" y="121920"/>
            <a:ext cx="4632960" cy="4632960"/>
          </a:xfrm>
          <a:prstGeom prst="ellipse">
            <a:avLst/>
          </a:prstGeom>
          <a:solidFill>
            <a:srgbClr val="265926"/>
          </a:solidFill>
          <a:ln w="12700">
            <a:solidFill>
              <a:srgbClr val="265926"/>
            </a:solidFill>
            <a:prstDash val="solid"/>
          </a:ln>
        </p:spPr>
      </p:sp>
      <p:pic>
        <p:nvPicPr>
          <p:cNvPr id="4" name="Image 0" descr="/home/claude/unpacked_theme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0960"/>
            <a:ext cx="3657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0560" y="731520"/>
            <a:ext cx="268224" cy="26822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0560" y="1341120"/>
            <a:ext cx="170688" cy="17068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670560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 ·  GROUP 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1280160"/>
            <a:ext cx="68275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69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&amp;</a:t>
            </a:r>
            <a:endParaRPr lang="en-US" sz="6933" dirty="0"/>
          </a:p>
          <a:p>
            <a:pPr>
              <a:lnSpc>
                <a:spcPct val="105000"/>
              </a:lnSpc>
            </a:pPr>
            <a:r>
              <a:rPr lang="en-US" sz="69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Set</a:t>
            </a:r>
            <a:endParaRPr lang="en-US" sz="6933" dirty="0"/>
          </a:p>
        </p:txBody>
      </p:sp>
      <p:sp>
        <p:nvSpPr>
          <p:cNvPr id="9" name="Shape 6"/>
          <p:cNvSpPr/>
          <p:nvPr/>
        </p:nvSpPr>
        <p:spPr>
          <a:xfrm>
            <a:off x="1097280" y="3803904"/>
            <a:ext cx="13411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998976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Laiba Javed  ·  2225165013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597408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7EC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Socialization &amp; Personality  ·  Status &amp; Role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936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389120"/>
            <a:ext cx="3413760" cy="3413760"/>
          </a:xfrm>
          <a:prstGeom prst="ellipse">
            <a:avLst/>
          </a:prstGeom>
          <a:solidFill>
            <a:srgbClr val="265926"/>
          </a:solidFill>
          <a:ln w="12700">
            <a:solidFill>
              <a:srgbClr val="2659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16480" y="487680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76200">
            <a:solidFill>
              <a:srgbClr val="C8E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720" y="487680"/>
            <a:ext cx="1219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9A825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720" y="1341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is 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Role?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" y="3352800"/>
            <a:ext cx="3901440" cy="1280160"/>
          </a:xfrm>
          <a:prstGeom prst="roundRect">
            <a:avLst>
              <a:gd name="adj" fmla="val 11429"/>
            </a:avLst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3413760"/>
            <a:ext cx="37185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33" i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"The behaviour expected from a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333" i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person who occupies a status."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" y="4669536"/>
            <a:ext cx="3779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Ralph Linton, 1936</a:t>
            </a:r>
            <a:endParaRPr lang="en-US" sz="1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0" y="670560"/>
            <a:ext cx="6705600" cy="164592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670560"/>
            <a:ext cx="146304" cy="1645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5440" y="1133856"/>
            <a:ext cx="670560" cy="67056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5440" y="113385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792480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Socially Defined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53644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Shaped by culture, norms &amp; society — not by the individual alone.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0" y="2621280"/>
            <a:ext cx="6705600" cy="164592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621280"/>
            <a:ext cx="146304" cy="1645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5440" y="3084576"/>
            <a:ext cx="670560" cy="67056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5440" y="308457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◎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Attached to Status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3230880"/>
            <a:ext cx="53644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position (status) carries at least one role attached to it.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20640" y="4572000"/>
            <a:ext cx="6705600" cy="164592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4572000"/>
            <a:ext cx="146304" cy="1645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25440" y="5035296"/>
            <a:ext cx="670560" cy="67056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5440" y="503529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↻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4693920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Dynamic &amp; Learned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5181600"/>
            <a:ext cx="53644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Roles involve action and are learned through socialization over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20640" y="6278880"/>
            <a:ext cx="6705600" cy="426720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2560" y="6278880"/>
            <a:ext cx="6461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 Status = WHO you are    ·    Role = WHAT you do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66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-1341120"/>
            <a:ext cx="3535680" cy="35356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8000" y="-731520"/>
            <a:ext cx="2316480" cy="231648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53440" y="4998720"/>
            <a:ext cx="2438400" cy="243840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8E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4800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4CAF50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03</a:t>
            </a:r>
            <a:endParaRPr lang="en-US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41120" y="341376"/>
            <a:ext cx="6705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is a Role Set?</a:t>
            </a:r>
            <a:endParaRPr lang="en-US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072896"/>
            <a:ext cx="11094720" cy="829056"/>
          </a:xfrm>
          <a:prstGeom prst="roundRect">
            <a:avLst>
              <a:gd name="adj" fmla="val 11765"/>
            </a:avLst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85088"/>
            <a:ext cx="10850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9A82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Set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(Robert K. Merton, 1957) — </a:t>
            </a:r>
            <a:r>
              <a:rPr lang="en-US" sz="1400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complete set of roles linked to ONE status. Each person in your role set expects different behaviour from you.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81600" y="3913632"/>
            <a:ext cx="1828800" cy="950976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1600" y="3913632"/>
            <a:ext cx="18288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TEACHER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(Status)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3840480"/>
            <a:ext cx="2499360" cy="548640"/>
          </a:xfrm>
          <a:prstGeom prst="line">
            <a:avLst/>
          </a:prstGeom>
          <a:noFill/>
          <a:ln w="22860">
            <a:solidFill>
              <a:srgbClr val="4CAF50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487680" y="3322320"/>
            <a:ext cx="219456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86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" y="3395472"/>
            <a:ext cx="1999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5216" y="3785616"/>
            <a:ext cx="1999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33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Teach, guide &amp; assess</a:t>
            </a:r>
            <a:endParaRPr lang="en-US" sz="1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0" y="3072384"/>
            <a:ext cx="487680" cy="841248"/>
          </a:xfrm>
          <a:prstGeom prst="line">
            <a:avLst/>
          </a:prstGeom>
          <a:noFill/>
          <a:ln w="22860">
            <a:solidFill>
              <a:srgbClr val="4CAF50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3291840" y="2042160"/>
            <a:ext cx="219456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86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9376" y="2115312"/>
            <a:ext cx="1999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Principal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9376" y="2505456"/>
            <a:ext cx="1999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33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progress &amp; follow rules</a:t>
            </a:r>
            <a:endParaRPr lang="en-US" sz="1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 flipH="1">
            <a:off x="6803136" y="3041904"/>
            <a:ext cx="573024" cy="1081040"/>
          </a:xfrm>
          <a:prstGeom prst="line">
            <a:avLst/>
          </a:prstGeom>
          <a:noFill/>
          <a:ln w="22860">
            <a:solidFill>
              <a:srgbClr val="4CAF50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6705600" y="2042160"/>
            <a:ext cx="219456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86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2115312"/>
            <a:ext cx="1999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03136" y="2505456"/>
            <a:ext cx="1999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33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 on student performance</a:t>
            </a:r>
            <a:endParaRPr lang="en-US" sz="1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 flipV="1">
            <a:off x="7010400" y="4094464"/>
            <a:ext cx="1645920" cy="203216"/>
          </a:xfrm>
          <a:prstGeom prst="line">
            <a:avLst/>
          </a:prstGeom>
          <a:noFill/>
          <a:ln w="22860">
            <a:solidFill>
              <a:srgbClr val="4CAF50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8656320" y="3322320"/>
            <a:ext cx="219456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86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53856" y="3395472"/>
            <a:ext cx="1999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Colleagues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53856" y="3785616"/>
            <a:ext cx="1999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33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 resources &amp; collaborate</a:t>
            </a:r>
            <a:endParaRPr lang="en-US" sz="1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9600" y="6339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status → Many relationships → Different behaviour expected from each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72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440" y="-1341120"/>
            <a:ext cx="3535680" cy="35356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8000" y="-731520"/>
            <a:ext cx="2316480" cy="231648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C8E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53440" y="4998720"/>
            <a:ext cx="2438400" cy="243840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560" y="304800"/>
            <a:ext cx="85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9A825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04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329184"/>
            <a:ext cx="792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Role Set in Real Life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60" y="950976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5C5C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Laiba Javed holds multiple statuses — each with its own role set: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487424"/>
            <a:ext cx="3657600" cy="4998720"/>
          </a:xfrm>
          <a:prstGeom prst="roundRect">
            <a:avLst>
              <a:gd name="adj" fmla="val 4667"/>
            </a:avLst>
          </a:prstGeom>
          <a:solidFill>
            <a:srgbClr val="F9F9F9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87424"/>
            <a:ext cx="3657600" cy="1280160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87424"/>
            <a:ext cx="3657600" cy="365760"/>
          </a:xfrm>
          <a:prstGeom prst="roundRect">
            <a:avLst>
              <a:gd name="adj" fmla="val 46667"/>
            </a:avLst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48384"/>
            <a:ext cx="3657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anose="02020603050405020304" pitchFamily="18" charset="0"/>
                <a:ea typeface="Segoe UI Emoji" pitchFamily="34" charset="-122"/>
                <a:cs typeface="Times New Roman" panose="02020603050405020304" pitchFamily="18" charset="0"/>
              </a:rPr>
              <a:t>📚</a:t>
            </a:r>
            <a:endParaRPr lang="en-US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" y="2170176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Student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865120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in Role 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" y="3255264"/>
            <a:ext cx="182880" cy="18288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320" y="319430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Teachers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8096" y="3621024"/>
            <a:ext cx="182880" cy="18288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320" y="356006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Classmates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8096" y="3986784"/>
            <a:ext cx="182880" cy="182880"/>
          </a:xfrm>
          <a:prstGeom prst="ellipse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6320" y="392582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Staff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4413504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2E6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Behaviour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8096" y="4876800"/>
            <a:ext cx="182880" cy="97536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320" y="475488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Attend &amp; participate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8096" y="5242560"/>
            <a:ext cx="182880" cy="97536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320" y="512064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&amp; submit work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8096" y="5608320"/>
            <a:ext cx="182880" cy="97536"/>
          </a:xfrm>
          <a:prstGeom prst="rect">
            <a:avLst/>
          </a:prstGeom>
          <a:solidFill>
            <a:srgbClr val="2E6B2E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320" y="548640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Follow rules &amp; schedule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25696" y="1487424"/>
            <a:ext cx="3657600" cy="4998720"/>
          </a:xfrm>
          <a:prstGeom prst="roundRect">
            <a:avLst>
              <a:gd name="adj" fmla="val 4667"/>
            </a:avLst>
          </a:prstGeom>
          <a:solidFill>
            <a:srgbClr val="F9F9F9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25696" y="1487424"/>
            <a:ext cx="3657600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696" y="1487424"/>
            <a:ext cx="3657600" cy="365760"/>
          </a:xfrm>
          <a:prstGeom prst="roundRect">
            <a:avLst>
              <a:gd name="adj" fmla="val 4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1548384"/>
            <a:ext cx="3657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anose="02020603050405020304" pitchFamily="18" charset="0"/>
                <a:ea typeface="Segoe UI Emoji" pitchFamily="34" charset="-122"/>
                <a:cs typeface="Times New Roman" panose="02020603050405020304" pitchFamily="18" charset="0"/>
              </a:rPr>
              <a:t>🏠</a:t>
            </a:r>
            <a:endParaRPr lang="en-US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47616" y="2170176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Daughter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08576" y="2865120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in Role 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45152" y="325526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3376" y="319430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Parents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45152" y="362102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3376" y="356006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Siblings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45152" y="398678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3376" y="392582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Extended Family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08576" y="4413504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Behaviour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45152" y="4876800"/>
            <a:ext cx="182880" cy="975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3376" y="475488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respect &amp; care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645152" y="5242560"/>
            <a:ext cx="182880" cy="975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3376" y="512064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 with chores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45152" y="5608320"/>
            <a:ext cx="182880" cy="975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3376" y="548640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Fulfil family duties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302752" y="1487424"/>
            <a:ext cx="3657600" cy="4998720"/>
          </a:xfrm>
          <a:prstGeom prst="roundRect">
            <a:avLst>
              <a:gd name="adj" fmla="val 4667"/>
            </a:avLst>
          </a:prstGeom>
          <a:solidFill>
            <a:srgbClr val="F9F9F9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02752" y="1487424"/>
            <a:ext cx="3657600" cy="12801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02752" y="1487424"/>
            <a:ext cx="3657600" cy="365760"/>
          </a:xfrm>
          <a:prstGeom prst="roundRect">
            <a:avLst>
              <a:gd name="adj" fmla="val 46667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1548384"/>
            <a:ext cx="3657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Times New Roman" panose="02020603050405020304" pitchFamily="18" charset="0"/>
                <a:ea typeface="Segoe UI Emoji" pitchFamily="34" charset="-122"/>
                <a:cs typeface="Times New Roman" panose="02020603050405020304" pitchFamily="18" charset="0"/>
              </a:rPr>
              <a:t>🤝</a:t>
            </a:r>
            <a:endParaRPr lang="en-US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24672" y="2170176"/>
            <a:ext cx="3413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Group Member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485632" y="2865120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4CAF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People in Role 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522208" y="3255264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90432" y="319430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Teammates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522208" y="3621024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90432" y="356006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 Instructor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522208" y="3986784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90432" y="3925824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Audience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485632" y="4413504"/>
            <a:ext cx="3291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4CAF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Behaviour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522208" y="4876800"/>
            <a:ext cx="182880" cy="975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90432" y="475488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 your topic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522208" y="5242560"/>
            <a:ext cx="182880" cy="975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90432" y="512064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Cooperate &amp; coordinate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522208" y="5608320"/>
            <a:ext cx="182880" cy="9753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90432" y="5486400"/>
            <a:ext cx="2987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 confidently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389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13760"/>
            <a:ext cx="5486400" cy="5486400"/>
          </a:xfrm>
          <a:prstGeom prst="ellipse">
            <a:avLst/>
          </a:prstGeom>
          <a:solidFill>
            <a:srgbClr val="265926"/>
          </a:solidFill>
          <a:ln w="12700">
            <a:solidFill>
              <a:srgbClr val="2659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219200"/>
            <a:ext cx="4267200" cy="4267200"/>
          </a:xfrm>
          <a:prstGeom prst="ellipse">
            <a:avLst/>
          </a:prstGeom>
          <a:solidFill>
            <a:srgbClr val="1F4F1F"/>
          </a:solidFill>
          <a:ln w="12700">
            <a:solidFill>
              <a:srgbClr val="1F4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30605" y="-433578"/>
            <a:ext cx="2682240" cy="2682240"/>
          </a:xfrm>
          <a:prstGeom prst="ellipse">
            <a:avLst/>
          </a:prstGeom>
          <a:solidFill>
            <a:srgbClr val="FFFFFF">
              <a:alpha val="5000"/>
            </a:srgbClr>
          </a:solidFill>
          <a:ln w="762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560" y="426720"/>
            <a:ext cx="9753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9A825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05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84960" y="463296"/>
            <a:ext cx="7924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Key Takeaways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584960" y="1182624"/>
            <a:ext cx="1097280" cy="60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1438656"/>
            <a:ext cx="8778240" cy="1072896"/>
          </a:xfrm>
          <a:prstGeom prst="roundRect">
            <a:avLst>
              <a:gd name="adj" fmla="val 10227"/>
            </a:avLst>
          </a:prstGeom>
          <a:solidFill>
            <a:srgbClr val="1F5C1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480" y="1670304"/>
            <a:ext cx="609600" cy="6096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480" y="167030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84960" y="1511808"/>
            <a:ext cx="75590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= Action side of Status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84960" y="192633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role is what you are expected to DO because of the position you hold. Identified by Ralph Linton (1936).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718816"/>
            <a:ext cx="8778240" cy="1072896"/>
          </a:xfrm>
          <a:prstGeom prst="roundRect">
            <a:avLst>
              <a:gd name="adj" fmla="val 10227"/>
            </a:avLst>
          </a:prstGeom>
          <a:solidFill>
            <a:srgbClr val="265926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480" y="2950464"/>
            <a:ext cx="609600" cy="6096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29504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84960" y="2791968"/>
            <a:ext cx="75590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 defines; Role performs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84960" y="320649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 is who you are (Teacher, Student, Parent). Role is the behaviour that comes with it.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3998976"/>
            <a:ext cx="8778240" cy="1072896"/>
          </a:xfrm>
          <a:prstGeom prst="roundRect">
            <a:avLst>
              <a:gd name="adj" fmla="val 10227"/>
            </a:avLst>
          </a:prstGeom>
          <a:solidFill>
            <a:srgbClr val="1F5C1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2480" y="4230624"/>
            <a:ext cx="609600" cy="6096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480" y="423062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84960" y="4072128"/>
            <a:ext cx="75590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Set = Web of relationships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84960" y="448665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status connects you to many people — Robert Merton (1957). Each relationship demands different behaviour.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5279136"/>
            <a:ext cx="8778240" cy="1072896"/>
          </a:xfrm>
          <a:prstGeom prst="roundRect">
            <a:avLst>
              <a:gd name="adj" fmla="val 10227"/>
            </a:avLst>
          </a:prstGeom>
          <a:solidFill>
            <a:srgbClr val="265926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480" y="5510784"/>
            <a:ext cx="609600" cy="6096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2480" y="551078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E6B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4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84960" y="5352288"/>
            <a:ext cx="75590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Sets explain social complexity</a:t>
            </a: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84960" y="576681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67" dirty="0">
                <a:solidFill>
                  <a:srgbClr val="C8E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show why people feel pulled in different directions, leading to Role Conflict (next topic!).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0" descr="/home/claude/unpacked_theme/ppt/media/image1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9265920" y="2804160"/>
            <a:ext cx="2682240" cy="26822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09600" y="6339840"/>
            <a:ext cx="87782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7EC87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"Understanding roles helps us understand society itself."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58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17883" y="1440780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918982" y="-1246366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1519431" y="3750704"/>
            <a:ext cx="562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Conflict and Role Strain</a:t>
            </a:r>
            <a:endParaRPr lang="x-none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2193790" y="4356865"/>
            <a:ext cx="290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Mehnoor Fayyaz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4374904" y="4356865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2225165017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34E71D8-3A9A-4778-A0FC-8E54FFEB4E0C}"/>
              </a:ext>
            </a:extLst>
          </p:cNvPr>
          <p:cNvSpPr txBox="1"/>
          <p:nvPr/>
        </p:nvSpPr>
        <p:spPr>
          <a:xfrm>
            <a:off x="2943178" y="3021432"/>
            <a:ext cx="315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132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7011212" y="-1725293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89651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00449B7-3574-4238-AE46-4E4165DC9CDC}"/>
              </a:ext>
            </a:extLst>
          </p:cNvPr>
          <p:cNvSpPr txBox="1"/>
          <p:nvPr/>
        </p:nvSpPr>
        <p:spPr>
          <a:xfrm>
            <a:off x="518280" y="1231613"/>
            <a:ext cx="11061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conflict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a person occupies two or more social roles that impose contradictory or incompatible demands at the same time. </a:t>
            </a:r>
            <a:endParaRPr lang="x-no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E4CDEC-4554-4F29-BEDB-7468FAF0C7D5}"/>
              </a:ext>
            </a:extLst>
          </p:cNvPr>
          <p:cNvSpPr txBox="1"/>
          <p:nvPr/>
        </p:nvSpPr>
        <p:spPr>
          <a:xfrm>
            <a:off x="518280" y="1771484"/>
            <a:ext cx="11061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Inter-role conflict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conflict is between different roles e.g., being a mother vs. being an PHD student on the same afternoon.</a:t>
            </a:r>
          </a:p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x-none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2" y="-192505"/>
            <a:ext cx="4010732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0" y="155009"/>
            <a:ext cx="351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Conflict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3103443A-C864-41E1-AE48-AC1215460CB7}"/>
              </a:ext>
            </a:extLst>
          </p:cNvPr>
          <p:cNvGrpSpPr/>
          <p:nvPr/>
        </p:nvGrpSpPr>
        <p:grpSpPr>
          <a:xfrm>
            <a:off x="7349815" y="2369739"/>
            <a:ext cx="4670386" cy="1232993"/>
            <a:chOff x="7637322" y="2550809"/>
            <a:chExt cx="4670386" cy="1232993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="" xmlns:a16="http://schemas.microsoft.com/office/drawing/2014/main" id="{B6DC671D-E777-488C-8E4B-250EC5D7D8F5}"/>
                </a:ext>
              </a:extLst>
            </p:cNvPr>
            <p:cNvSpPr/>
            <p:nvPr/>
          </p:nvSpPr>
          <p:spPr>
            <a:xfrm>
              <a:off x="8265097" y="2550809"/>
              <a:ext cx="1203157" cy="923330"/>
            </a:xfrm>
            <a:prstGeom prst="round2SameRect">
              <a:avLst/>
            </a:prstGeom>
            <a:solidFill>
              <a:srgbClr val="73B1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="" xmlns:a16="http://schemas.microsoft.com/office/drawing/2014/main" id="{5BE8C542-C6D3-482F-945C-AB6A54D645CA}"/>
                </a:ext>
              </a:extLst>
            </p:cNvPr>
            <p:cNvGrpSpPr/>
            <p:nvPr/>
          </p:nvGrpSpPr>
          <p:grpSpPr>
            <a:xfrm>
              <a:off x="7637322" y="2799178"/>
              <a:ext cx="4670386" cy="984624"/>
              <a:chOff x="7196965" y="3091836"/>
              <a:chExt cx="4670386" cy="984624"/>
            </a:xfrm>
            <a:solidFill>
              <a:srgbClr val="92D050"/>
            </a:solidFill>
          </p:grpSpPr>
          <p:sp>
            <p:nvSpPr>
              <p:cNvPr id="8" name="Rectangle: Rounded Corners 7">
                <a:extLst>
                  <a:ext uri="{FF2B5EF4-FFF2-40B4-BE49-F238E27FC236}">
                    <a16:creationId xmlns="" xmlns:a16="http://schemas.microsoft.com/office/drawing/2014/main" id="{650271E1-093C-4098-BE76-6BF5B833EC4B}"/>
                  </a:ext>
                </a:extLst>
              </p:cNvPr>
              <p:cNvSpPr/>
              <p:nvPr/>
            </p:nvSpPr>
            <p:spPr>
              <a:xfrm>
                <a:off x="7824740" y="3092870"/>
                <a:ext cx="4042611" cy="982461"/>
              </a:xfrm>
              <a:prstGeom prst="roundRect">
                <a:avLst/>
              </a:pr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320088F4-4845-437C-B9AA-3F1E72DDDFF8}"/>
                  </a:ext>
                </a:extLst>
              </p:cNvPr>
              <p:cNvSpPr txBox="1"/>
              <p:nvPr/>
            </p:nvSpPr>
            <p:spPr>
              <a:xfrm>
                <a:off x="7196965" y="3091836"/>
                <a:ext cx="253465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Employee</a:t>
                </a:r>
                <a:endParaRPr lang="x-non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C70FE7BB-5007-4839-9434-F889C0BE389B}"/>
                  </a:ext>
                </a:extLst>
              </p:cNvPr>
              <p:cNvSpPr txBox="1"/>
              <p:nvPr/>
            </p:nvSpPr>
            <p:spPr>
              <a:xfrm>
                <a:off x="7889115" y="3430129"/>
                <a:ext cx="388589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Deliver tasks, attend meetings and submit report</a:t>
                </a:r>
                <a:endParaRPr lang="x-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E1BB844A-82D3-449E-8702-A061195AB5F5}"/>
              </a:ext>
            </a:extLst>
          </p:cNvPr>
          <p:cNvGrpSpPr/>
          <p:nvPr/>
        </p:nvGrpSpPr>
        <p:grpSpPr>
          <a:xfrm>
            <a:off x="-514298" y="3556432"/>
            <a:ext cx="4862863" cy="1214133"/>
            <a:chOff x="-66893" y="3515842"/>
            <a:chExt cx="4862863" cy="1214133"/>
          </a:xfrm>
        </p:grpSpPr>
        <p:sp>
          <p:nvSpPr>
            <p:cNvPr id="9" name="Rectangle: Top Corners Rounded 8">
              <a:extLst>
                <a:ext uri="{FF2B5EF4-FFF2-40B4-BE49-F238E27FC236}">
                  <a16:creationId xmlns="" xmlns:a16="http://schemas.microsoft.com/office/drawing/2014/main" id="{65639622-B0E5-4EAB-AB66-FBCF5312C907}"/>
                </a:ext>
              </a:extLst>
            </p:cNvPr>
            <p:cNvSpPr/>
            <p:nvPr/>
          </p:nvSpPr>
          <p:spPr>
            <a:xfrm>
              <a:off x="712946" y="3515842"/>
              <a:ext cx="1203157" cy="923330"/>
            </a:xfrm>
            <a:prstGeom prst="round2SameRect">
              <a:avLst/>
            </a:prstGeom>
            <a:solidFill>
              <a:srgbClr val="73B1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="" xmlns:a16="http://schemas.microsoft.com/office/drawing/2014/main" id="{1442DF81-0353-479F-BB5D-43B92586BA9B}"/>
                </a:ext>
              </a:extLst>
            </p:cNvPr>
            <p:cNvGrpSpPr/>
            <p:nvPr/>
          </p:nvGrpSpPr>
          <p:grpSpPr>
            <a:xfrm>
              <a:off x="-66893" y="3747514"/>
              <a:ext cx="4862863" cy="982461"/>
              <a:chOff x="7248718" y="3245269"/>
              <a:chExt cx="4862863" cy="982461"/>
            </a:xfrm>
            <a:solidFill>
              <a:srgbClr val="92D050"/>
            </a:solidFill>
          </p:grpSpPr>
          <p:sp>
            <p:nvSpPr>
              <p:cNvPr id="21" name="Rectangle: Rounded Corners 20">
                <a:extLst>
                  <a:ext uri="{FF2B5EF4-FFF2-40B4-BE49-F238E27FC236}">
                    <a16:creationId xmlns="" xmlns:a16="http://schemas.microsoft.com/office/drawing/2014/main" id="{EE519CD7-8812-4A30-AB49-9FE919C09E87}"/>
                  </a:ext>
                </a:extLst>
              </p:cNvPr>
              <p:cNvSpPr/>
              <p:nvPr/>
            </p:nvSpPr>
            <p:spPr>
              <a:xfrm>
                <a:off x="8029072" y="3245269"/>
                <a:ext cx="4042611" cy="982461"/>
              </a:xfrm>
              <a:prstGeom prst="roundRect">
                <a:avLst/>
              </a:pr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651B5B2B-A5CA-4041-9243-77CB10CF4160}"/>
                  </a:ext>
                </a:extLst>
              </p:cNvPr>
              <p:cNvSpPr txBox="1"/>
              <p:nvPr/>
            </p:nvSpPr>
            <p:spPr>
              <a:xfrm>
                <a:off x="7248718" y="3245269"/>
                <a:ext cx="253465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Mother</a:t>
                </a:r>
                <a:endParaRPr lang="x-non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29BF4C87-7CC8-480A-A451-01164F13880F}"/>
                  </a:ext>
                </a:extLst>
              </p:cNvPr>
              <p:cNvSpPr txBox="1"/>
              <p:nvPr/>
            </p:nvSpPr>
            <p:spPr>
              <a:xfrm>
                <a:off x="8068970" y="3543687"/>
                <a:ext cx="404261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Care, nurture, availability and motherly responsibilities</a:t>
                </a:r>
                <a:endParaRPr lang="x-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264A457-23F2-44DC-8062-A017F9550258}"/>
              </a:ext>
            </a:extLst>
          </p:cNvPr>
          <p:cNvSpPr txBox="1"/>
          <p:nvPr/>
        </p:nvSpPr>
        <p:spPr>
          <a:xfrm>
            <a:off x="425194" y="5278006"/>
            <a:ext cx="112477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child falls sick on the day of a big work presentation. As a mother she must stay home, but as an employee she must attend and deliver the pitch deck. The two roles directly clash with each other. This is an inter-role conflict.</a:t>
            </a:r>
          </a:p>
          <a:p>
            <a:pPr algn="just"/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one means failing the other. The tension she experiences is not just logistical; it triggers a deep identity question.</a:t>
            </a:r>
            <a:endParaRPr lang="x-no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="" xmlns:a16="http://schemas.microsoft.com/office/drawing/2014/main" id="{84CA9694-238E-4356-A264-4D6109FCC6C3}"/>
              </a:ext>
            </a:extLst>
          </p:cNvPr>
          <p:cNvCxnSpPr>
            <a:cxnSpLocks/>
            <a:stCxn id="23" idx="3"/>
            <a:endCxn id="30" idx="1"/>
          </p:cNvCxnSpPr>
          <p:nvPr/>
        </p:nvCxnSpPr>
        <p:spPr>
          <a:xfrm flipV="1">
            <a:off x="4348565" y="3799235"/>
            <a:ext cx="816153" cy="610453"/>
          </a:xfrm>
          <a:prstGeom prst="bentConnector3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="" xmlns:a16="http://schemas.microsoft.com/office/drawing/2014/main" id="{3EE9AE78-DE60-4563-9270-C1A1992DC5EB}"/>
              </a:ext>
            </a:extLst>
          </p:cNvPr>
          <p:cNvCxnSpPr>
            <a:cxnSpLocks/>
            <a:stCxn id="8" idx="1"/>
            <a:endCxn id="33" idx="3"/>
          </p:cNvCxnSpPr>
          <p:nvPr/>
        </p:nvCxnSpPr>
        <p:spPr>
          <a:xfrm rot="10800000" flipV="1">
            <a:off x="7228432" y="3110372"/>
            <a:ext cx="749158" cy="680715"/>
          </a:xfrm>
          <a:prstGeom prst="bentConnector3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DC5A05CE-CE56-42BE-BB65-AF4E0FA7CE54}"/>
              </a:ext>
            </a:extLst>
          </p:cNvPr>
          <p:cNvGrpSpPr/>
          <p:nvPr/>
        </p:nvGrpSpPr>
        <p:grpSpPr>
          <a:xfrm>
            <a:off x="4996290" y="3095990"/>
            <a:ext cx="2232142" cy="1194475"/>
            <a:chOff x="5161135" y="3229595"/>
            <a:chExt cx="2232142" cy="1194475"/>
          </a:xfrm>
        </p:grpSpPr>
        <p:sp>
          <p:nvSpPr>
            <p:cNvPr id="28" name="Rectangle: Top Corners Rounded 27">
              <a:extLst>
                <a:ext uri="{FF2B5EF4-FFF2-40B4-BE49-F238E27FC236}">
                  <a16:creationId xmlns="" xmlns:a16="http://schemas.microsoft.com/office/drawing/2014/main" id="{50D33F13-374B-4020-8C80-3FE3341AAB47}"/>
                </a:ext>
              </a:extLst>
            </p:cNvPr>
            <p:cNvSpPr/>
            <p:nvPr/>
          </p:nvSpPr>
          <p:spPr>
            <a:xfrm>
              <a:off x="5349707" y="3229595"/>
              <a:ext cx="864190" cy="747912"/>
            </a:xfrm>
            <a:prstGeom prst="round2SameRect">
              <a:avLst/>
            </a:prstGeom>
            <a:solidFill>
              <a:srgbClr val="73B1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="" xmlns:a16="http://schemas.microsoft.com/office/drawing/2014/main" id="{6BD1B5FB-789D-4D3A-AC0A-869616FC1968}"/>
                </a:ext>
              </a:extLst>
            </p:cNvPr>
            <p:cNvGrpSpPr/>
            <p:nvPr/>
          </p:nvGrpSpPr>
          <p:grpSpPr>
            <a:xfrm>
              <a:off x="5161135" y="3441609"/>
              <a:ext cx="2232142" cy="982461"/>
              <a:chOff x="7695882" y="3245269"/>
              <a:chExt cx="4415699" cy="982461"/>
            </a:xfrm>
            <a:solidFill>
              <a:srgbClr val="92D050"/>
            </a:solidFill>
          </p:grpSpPr>
          <p:sp>
            <p:nvSpPr>
              <p:cNvPr id="30" name="Rectangle: Rounded Corners 29">
                <a:extLst>
                  <a:ext uri="{FF2B5EF4-FFF2-40B4-BE49-F238E27FC236}">
                    <a16:creationId xmlns="" xmlns:a16="http://schemas.microsoft.com/office/drawing/2014/main" id="{4399CDC8-B01D-4EA0-A8C4-A3935AF68525}"/>
                  </a:ext>
                </a:extLst>
              </p:cNvPr>
              <p:cNvSpPr/>
              <p:nvPr/>
            </p:nvSpPr>
            <p:spPr>
              <a:xfrm>
                <a:off x="8029072" y="3245269"/>
                <a:ext cx="4042611" cy="982461"/>
              </a:xfrm>
              <a:prstGeom prst="roundRect">
                <a:avLst/>
              </a:pr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B88C7D9E-28D3-41F6-87ED-EE7A9D696A70}"/>
                  </a:ext>
                </a:extLst>
              </p:cNvPr>
              <p:cNvSpPr txBox="1"/>
              <p:nvPr/>
            </p:nvSpPr>
            <p:spPr>
              <a:xfrm>
                <a:off x="7695882" y="3245269"/>
                <a:ext cx="253465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Ayesha</a:t>
                </a:r>
                <a:endParaRPr lang="x-non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id="{F4C14B35-6473-4680-9A77-8D8AAF325BE9}"/>
                  </a:ext>
                </a:extLst>
              </p:cNvPr>
              <p:cNvSpPr txBox="1"/>
              <p:nvPr/>
            </p:nvSpPr>
            <p:spPr>
              <a:xfrm>
                <a:off x="8068970" y="3543687"/>
                <a:ext cx="40426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28 year old woman</a:t>
                </a:r>
                <a:endParaRPr lang="x-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674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679626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0739717" y="4906200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E4CDEC-4554-4F29-BEDB-7468FAF0C7D5}"/>
              </a:ext>
            </a:extLst>
          </p:cNvPr>
          <p:cNvSpPr txBox="1"/>
          <p:nvPr/>
        </p:nvSpPr>
        <p:spPr>
          <a:xfrm>
            <a:off x="3680393" y="1552718"/>
            <a:ext cx="52938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socialization &amp; personality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2" y="-192505"/>
            <a:ext cx="4010732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0" y="155009"/>
            <a:ext cx="351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Conflict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5BE8C542-C6D3-482F-945C-AB6A54D645CA}"/>
              </a:ext>
            </a:extLst>
          </p:cNvPr>
          <p:cNvGrpSpPr/>
          <p:nvPr/>
        </p:nvGrpSpPr>
        <p:grpSpPr>
          <a:xfrm>
            <a:off x="8298781" y="3122949"/>
            <a:ext cx="3591944" cy="982462"/>
            <a:chOff x="7876671" y="3092869"/>
            <a:chExt cx="4042610" cy="982462"/>
          </a:xfrm>
          <a:solidFill>
            <a:srgbClr val="92D050"/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650271E1-093C-4098-BE76-6BF5B833EC4B}"/>
                </a:ext>
              </a:extLst>
            </p:cNvPr>
            <p:cNvSpPr/>
            <p:nvPr/>
          </p:nvSpPr>
          <p:spPr>
            <a:xfrm>
              <a:off x="7876671" y="3092869"/>
              <a:ext cx="4042610" cy="982461"/>
            </a:xfrm>
            <a:prstGeom prst="roundRec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320088F4-4845-437C-B9AA-3F1E72DDDFF8}"/>
                </a:ext>
              </a:extLst>
            </p:cNvPr>
            <p:cNvSpPr txBox="1"/>
            <p:nvPr/>
          </p:nvSpPr>
          <p:spPr>
            <a:xfrm>
              <a:off x="8686799" y="3135301"/>
              <a:ext cx="2534653" cy="369332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Anxiety and Stress</a:t>
              </a:r>
              <a:endParaRPr lang="x-non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C70FE7BB-5007-4839-9434-F889C0BE389B}"/>
                </a:ext>
              </a:extLst>
            </p:cNvPr>
            <p:cNvSpPr txBox="1"/>
            <p:nvPr/>
          </p:nvSpPr>
          <p:spPr>
            <a:xfrm>
              <a:off x="8117305" y="3429000"/>
              <a:ext cx="3673642" cy="646331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 toll reduces social confidence</a:t>
              </a:r>
              <a:endParaRPr lang="x-none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1442DF81-0353-479F-BB5D-43B92586BA9B}"/>
              </a:ext>
            </a:extLst>
          </p:cNvPr>
          <p:cNvGrpSpPr/>
          <p:nvPr/>
        </p:nvGrpSpPr>
        <p:grpSpPr>
          <a:xfrm>
            <a:off x="472949" y="3110890"/>
            <a:ext cx="3360816" cy="987942"/>
            <a:chOff x="8029072" y="3245269"/>
            <a:chExt cx="4042611" cy="987942"/>
          </a:xfrm>
          <a:solidFill>
            <a:srgbClr val="92D050"/>
          </a:solidFill>
        </p:grpSpPr>
        <p:sp>
          <p:nvSpPr>
            <p:cNvPr id="21" name="Rectangle: Rounded Corners 20">
              <a:extLst>
                <a:ext uri="{FF2B5EF4-FFF2-40B4-BE49-F238E27FC236}">
                  <a16:creationId xmlns="" xmlns:a16="http://schemas.microsoft.com/office/drawing/2014/main" id="{EE519CD7-8812-4A30-AB49-9FE919C09E87}"/>
                </a:ext>
              </a:extLst>
            </p:cNvPr>
            <p:cNvSpPr/>
            <p:nvPr/>
          </p:nvSpPr>
          <p:spPr>
            <a:xfrm>
              <a:off x="8029072" y="3245269"/>
              <a:ext cx="4042611" cy="982461"/>
            </a:xfrm>
            <a:prstGeom prst="roundRec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651B5B2B-A5CA-4041-9243-77CB10CF4160}"/>
                </a:ext>
              </a:extLst>
            </p:cNvPr>
            <p:cNvSpPr txBox="1"/>
            <p:nvPr/>
          </p:nvSpPr>
          <p:spPr>
            <a:xfrm>
              <a:off x="8630656" y="3249173"/>
              <a:ext cx="2955658" cy="36933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Identity confusion</a:t>
              </a:r>
              <a:endParaRPr lang="x-non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29BF4C87-7CC8-480A-A451-01164F13880F}"/>
                </a:ext>
              </a:extLst>
            </p:cNvPr>
            <p:cNvSpPr txBox="1"/>
            <p:nvPr/>
          </p:nvSpPr>
          <p:spPr>
            <a:xfrm>
              <a:off x="8213556" y="3586880"/>
              <a:ext cx="367364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Unsure which role defines the "true self"</a:t>
              </a:r>
              <a:endParaRPr lang="x-none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492E2545-B02C-4737-BDA5-5FCFCB5A59F5}"/>
              </a:ext>
            </a:extLst>
          </p:cNvPr>
          <p:cNvGrpSpPr/>
          <p:nvPr/>
        </p:nvGrpSpPr>
        <p:grpSpPr>
          <a:xfrm>
            <a:off x="4270301" y="3122949"/>
            <a:ext cx="3591944" cy="982461"/>
            <a:chOff x="8058157" y="3072190"/>
            <a:chExt cx="4042611" cy="982461"/>
          </a:xfrm>
          <a:solidFill>
            <a:srgbClr val="92D050"/>
          </a:solidFill>
        </p:grpSpPr>
        <p:sp>
          <p:nvSpPr>
            <p:cNvPr id="29" name="Rectangle: Rounded Corners 28">
              <a:extLst>
                <a:ext uri="{FF2B5EF4-FFF2-40B4-BE49-F238E27FC236}">
                  <a16:creationId xmlns="" xmlns:a16="http://schemas.microsoft.com/office/drawing/2014/main" id="{7F6D7CD2-7294-40AA-9BB1-C6D92D1F6033}"/>
                </a:ext>
              </a:extLst>
            </p:cNvPr>
            <p:cNvSpPr/>
            <p:nvPr/>
          </p:nvSpPr>
          <p:spPr>
            <a:xfrm>
              <a:off x="8058157" y="3072190"/>
              <a:ext cx="4042611" cy="982461"/>
            </a:xfrm>
            <a:prstGeom prst="roundRec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1CFE0FE9-E882-43E0-861C-C03A8BE35974}"/>
                </a:ext>
              </a:extLst>
            </p:cNvPr>
            <p:cNvSpPr txBox="1"/>
            <p:nvPr/>
          </p:nvSpPr>
          <p:spPr>
            <a:xfrm>
              <a:off x="8376978" y="3104929"/>
              <a:ext cx="33107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Role Exit/ Adaptation</a:t>
              </a:r>
              <a:endParaRPr lang="x-non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6BD0F183-5059-47A5-8F11-03235EF350EA}"/>
                </a:ext>
              </a:extLst>
            </p:cNvPr>
            <p:cNvSpPr txBox="1"/>
            <p:nvPr/>
          </p:nvSpPr>
          <p:spPr>
            <a:xfrm>
              <a:off x="8326450" y="3408320"/>
              <a:ext cx="367364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Person drops, reshapes, or prioritizes roles</a:t>
              </a:r>
              <a:endParaRPr lang="x-none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" name="Connector: Elbow 10">
            <a:extLst>
              <a:ext uri="{FF2B5EF4-FFF2-40B4-BE49-F238E27FC236}">
                <a16:creationId xmlns="" xmlns:a16="http://schemas.microsoft.com/office/drawing/2014/main" id="{38CDB71D-B03C-4A46-BB80-B8AFF8319AB6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rot="16200000" flipH="1">
            <a:off x="7810639" y="838835"/>
            <a:ext cx="800790" cy="3767438"/>
          </a:xfrm>
          <a:prstGeom prst="bentConnector3">
            <a:avLst/>
          </a:prstGeom>
          <a:ln>
            <a:solidFill>
              <a:srgbClr val="73B14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="" xmlns:a16="http://schemas.microsoft.com/office/drawing/2014/main" id="{0A3D4576-1376-447D-AC30-BBAE501A36B5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rot="5400000">
            <a:off x="3868173" y="655651"/>
            <a:ext cx="792635" cy="4125650"/>
          </a:xfrm>
          <a:prstGeom prst="bentConnector3">
            <a:avLst>
              <a:gd name="adj1" fmla="val 50000"/>
            </a:avLst>
          </a:prstGeom>
          <a:ln>
            <a:solidFill>
              <a:srgbClr val="73B1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1E010E6C-BCBE-42A8-A579-9F20CAB141A8}"/>
              </a:ext>
            </a:extLst>
          </p:cNvPr>
          <p:cNvCxnSpPr>
            <a:stCxn id="14" idx="2"/>
          </p:cNvCxnSpPr>
          <p:nvPr/>
        </p:nvCxnSpPr>
        <p:spPr>
          <a:xfrm>
            <a:off x="6327315" y="2322159"/>
            <a:ext cx="0" cy="800791"/>
          </a:xfrm>
          <a:prstGeom prst="straightConnector1">
            <a:avLst/>
          </a:prstGeom>
          <a:ln>
            <a:solidFill>
              <a:srgbClr val="73B1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DD300D5E-D97B-4EFE-B256-2F0125D09420}"/>
              </a:ext>
            </a:extLst>
          </p:cNvPr>
          <p:cNvSpPr txBox="1"/>
          <p:nvPr/>
        </p:nvSpPr>
        <p:spPr>
          <a:xfrm>
            <a:off x="190822" y="5178374"/>
            <a:ext cx="5231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Exit 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consciously abandoning a role to reduce conflict</a:t>
            </a:r>
            <a:endParaRPr lang="x-non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73981F07-88D0-4C8E-9B77-A2893E6D60BD}"/>
              </a:ext>
            </a:extLst>
          </p:cNvPr>
          <p:cNvSpPr txBox="1"/>
          <p:nvPr/>
        </p:nvSpPr>
        <p:spPr>
          <a:xfrm>
            <a:off x="7385084" y="5178374"/>
            <a:ext cx="46785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itself reshapes their sense of self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="" xmlns:a16="http://schemas.microsoft.com/office/drawing/2014/main" id="{F6AD97A7-E307-4708-831D-897D1146D566}"/>
              </a:ext>
            </a:extLst>
          </p:cNvPr>
          <p:cNvSpPr/>
          <p:nvPr/>
        </p:nvSpPr>
        <p:spPr>
          <a:xfrm>
            <a:off x="5591196" y="5436870"/>
            <a:ext cx="576671" cy="328438"/>
          </a:xfrm>
          <a:prstGeom prst="chevron">
            <a:avLst>
              <a:gd name="adj" fmla="val 98363"/>
            </a:avLst>
          </a:prstGeom>
          <a:solidFill>
            <a:srgbClr val="95C674"/>
          </a:solidFill>
          <a:ln>
            <a:solidFill>
              <a:srgbClr val="95C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="" xmlns:a16="http://schemas.microsoft.com/office/drawing/2014/main" id="{C7DD4482-ED30-4ADE-AEFB-F47A5FCCDC95}"/>
              </a:ext>
            </a:extLst>
          </p:cNvPr>
          <p:cNvSpPr/>
          <p:nvPr/>
        </p:nvSpPr>
        <p:spPr>
          <a:xfrm>
            <a:off x="6007502" y="5436870"/>
            <a:ext cx="576671" cy="328438"/>
          </a:xfrm>
          <a:prstGeom prst="chevron">
            <a:avLst>
              <a:gd name="adj" fmla="val 98363"/>
            </a:avLst>
          </a:prstGeom>
          <a:solidFill>
            <a:srgbClr val="95C674"/>
          </a:solidFill>
          <a:ln>
            <a:solidFill>
              <a:srgbClr val="95C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="" xmlns:a16="http://schemas.microsoft.com/office/drawing/2014/main" id="{DFF7D736-B9E0-4FB9-9D29-CCA61774477D}"/>
              </a:ext>
            </a:extLst>
          </p:cNvPr>
          <p:cNvSpPr/>
          <p:nvPr/>
        </p:nvSpPr>
        <p:spPr>
          <a:xfrm>
            <a:off x="6423808" y="5436870"/>
            <a:ext cx="576671" cy="328438"/>
          </a:xfrm>
          <a:prstGeom prst="chevron">
            <a:avLst>
              <a:gd name="adj" fmla="val 98363"/>
            </a:avLst>
          </a:prstGeom>
          <a:solidFill>
            <a:srgbClr val="95C674"/>
          </a:solidFill>
          <a:ln>
            <a:solidFill>
              <a:srgbClr val="95C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1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11783132" y="5556018"/>
            <a:ext cx="1675676" cy="1689827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-2010239" y="3253292"/>
            <a:ext cx="2904565" cy="2847273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2" y="-192505"/>
            <a:ext cx="4010732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0" y="155009"/>
            <a:ext cx="351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Strain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72F155B-ADEE-47D2-9347-FC3352A1891C}"/>
              </a:ext>
            </a:extLst>
          </p:cNvPr>
          <p:cNvSpPr txBox="1"/>
          <p:nvPr/>
        </p:nvSpPr>
        <p:spPr>
          <a:xfrm>
            <a:off x="326085" y="1240216"/>
            <a:ext cx="11681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strain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the demands of a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are difficult to fulfil simultaneously. The conflict is within one role, not between roles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x-non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378473FA-AA66-488B-A227-325F4A0CEBA9}"/>
              </a:ext>
            </a:extLst>
          </p:cNvPr>
          <p:cNvSpPr txBox="1"/>
          <p:nvPr/>
        </p:nvSpPr>
        <p:spPr>
          <a:xfrm>
            <a:off x="309664" y="1847645"/>
            <a:ext cx="1169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who frequently experiences role strain contribute to anxiety, low-self esteem, and reduced social participation.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23A23A94-BE77-46A3-B520-F977C9B08A1F}"/>
              </a:ext>
            </a:extLst>
          </p:cNvPr>
          <p:cNvGrpSpPr/>
          <p:nvPr/>
        </p:nvGrpSpPr>
        <p:grpSpPr>
          <a:xfrm>
            <a:off x="1808620" y="2783306"/>
            <a:ext cx="8181943" cy="3295261"/>
            <a:chOff x="-1080544" y="2925900"/>
            <a:chExt cx="8695829" cy="3436763"/>
          </a:xfrm>
        </p:grpSpPr>
        <p:grpSp>
          <p:nvGrpSpPr>
            <p:cNvPr id="37" name="Group 36">
              <a:extLst>
                <a:ext uri="{FF2B5EF4-FFF2-40B4-BE49-F238E27FC236}">
                  <a16:creationId xmlns="" xmlns:a16="http://schemas.microsoft.com/office/drawing/2014/main" id="{AAB9FB47-1DD6-405C-B9A3-D7A8EFA4D52E}"/>
                </a:ext>
              </a:extLst>
            </p:cNvPr>
            <p:cNvGrpSpPr/>
            <p:nvPr/>
          </p:nvGrpSpPr>
          <p:grpSpPr>
            <a:xfrm>
              <a:off x="-1080544" y="2925900"/>
              <a:ext cx="8695829" cy="3436763"/>
              <a:chOff x="1371779" y="2265148"/>
              <a:chExt cx="8695829" cy="3436763"/>
            </a:xfrm>
            <a:solidFill>
              <a:srgbClr val="73B149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="" xmlns:a16="http://schemas.microsoft.com/office/drawing/2014/main" id="{14A05F4A-8252-4911-8D86-7A9462EEA888}"/>
                  </a:ext>
                </a:extLst>
              </p:cNvPr>
              <p:cNvSpPr/>
              <p:nvPr/>
            </p:nvSpPr>
            <p:spPr>
              <a:xfrm>
                <a:off x="5832570" y="2265148"/>
                <a:ext cx="1400791" cy="1531224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="" xmlns:a16="http://schemas.microsoft.com/office/drawing/2014/main" id="{8C9FCA03-0B09-4CF0-994B-8907695D033A}"/>
                  </a:ext>
                </a:extLst>
              </p:cNvPr>
              <p:cNvSpPr/>
              <p:nvPr/>
            </p:nvSpPr>
            <p:spPr>
              <a:xfrm flipH="1">
                <a:off x="4313258" y="2265148"/>
                <a:ext cx="1400791" cy="1531224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="" xmlns:a16="http://schemas.microsoft.com/office/drawing/2014/main" id="{4EE0A58F-800B-4CDC-98D7-04E9023DBD8E}"/>
                  </a:ext>
                </a:extLst>
              </p:cNvPr>
              <p:cNvSpPr/>
              <p:nvPr/>
            </p:nvSpPr>
            <p:spPr>
              <a:xfrm flipH="1" flipV="1">
                <a:off x="4313257" y="4170687"/>
                <a:ext cx="1400791" cy="1531224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="" xmlns:a16="http://schemas.microsoft.com/office/drawing/2014/main" id="{D61C8532-5775-4CBB-B54B-7C2CB73EC378}"/>
                  </a:ext>
                </a:extLst>
              </p:cNvPr>
              <p:cNvSpPr/>
              <p:nvPr/>
            </p:nvSpPr>
            <p:spPr>
              <a:xfrm flipV="1">
                <a:off x="5832570" y="4170687"/>
                <a:ext cx="1400791" cy="1531224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="" xmlns:a16="http://schemas.microsoft.com/office/drawing/2014/main" id="{31333057-8CBE-45D6-9D1C-427773CDD6EE}"/>
                  </a:ext>
                </a:extLst>
              </p:cNvPr>
              <p:cNvSpPr/>
              <p:nvPr/>
            </p:nvSpPr>
            <p:spPr>
              <a:xfrm rot="18124762" flipV="1">
                <a:off x="6234169" y="2980019"/>
                <a:ext cx="1449603" cy="1613198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="" xmlns:a16="http://schemas.microsoft.com/office/drawing/2014/main" id="{666B6E97-FCE9-4AD6-8644-6729C3EF3B54}"/>
                  </a:ext>
                </a:extLst>
              </p:cNvPr>
              <p:cNvSpPr/>
              <p:nvPr/>
            </p:nvSpPr>
            <p:spPr>
              <a:xfrm rot="7442081" flipV="1">
                <a:off x="3884473" y="3379931"/>
                <a:ext cx="1400791" cy="1632369"/>
              </a:xfrm>
              <a:custGeom>
                <a:avLst/>
                <a:gdLst>
                  <a:gd name="connsiteX0" fmla="*/ 791299 w 1243001"/>
                  <a:gd name="connsiteY0" fmla="*/ 85255 h 1382582"/>
                  <a:gd name="connsiteX1" fmla="*/ 1243001 w 1243001"/>
                  <a:gd name="connsiteY1" fmla="*/ 757456 h 1382582"/>
                  <a:gd name="connsiteX2" fmla="*/ 0 w 1243001"/>
                  <a:gd name="connsiteY2" fmla="*/ 1382582 h 1382582"/>
                  <a:gd name="connsiteX3" fmla="*/ 0 w 1243001"/>
                  <a:gd name="connsiteY3" fmla="*/ 0 h 1382582"/>
                  <a:gd name="connsiteX4" fmla="*/ 791299 w 1243001"/>
                  <a:gd name="connsiteY4" fmla="*/ 85255 h 138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3001" h="1382582">
                    <a:moveTo>
                      <a:pt x="791299" y="85255"/>
                    </a:moveTo>
                    <a:lnTo>
                      <a:pt x="1243001" y="757456"/>
                    </a:lnTo>
                    <a:lnTo>
                      <a:pt x="0" y="1382582"/>
                    </a:lnTo>
                    <a:lnTo>
                      <a:pt x="0" y="0"/>
                    </a:lnTo>
                    <a:lnTo>
                      <a:pt x="791299" y="85255"/>
                    </a:lnTo>
                    <a:close/>
                  </a:path>
                </a:pathLst>
              </a:custGeom>
              <a:grp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5" name="Hexagon 44">
                <a:extLst>
                  <a:ext uri="{FF2B5EF4-FFF2-40B4-BE49-F238E27FC236}">
                    <a16:creationId xmlns="" xmlns:a16="http://schemas.microsoft.com/office/drawing/2014/main" id="{596EF386-0AEF-4FB1-919F-EC527724F17D}"/>
                  </a:ext>
                </a:extLst>
              </p:cNvPr>
              <p:cNvSpPr/>
              <p:nvPr/>
            </p:nvSpPr>
            <p:spPr>
              <a:xfrm>
                <a:off x="4968134" y="3269904"/>
                <a:ext cx="1611881" cy="1306364"/>
              </a:xfrm>
              <a:prstGeom prst="hexagon">
                <a:avLst>
                  <a:gd name="adj" fmla="val 36122"/>
                  <a:gd name="vf" fmla="val 115470"/>
                </a:avLst>
              </a:prstGeom>
              <a:solidFill>
                <a:srgbClr val="95C674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54EEDEFD-4C43-46EF-838A-0E51EFACCEF6}"/>
                  </a:ext>
                </a:extLst>
              </p:cNvPr>
              <p:cNvSpPr txBox="1"/>
              <p:nvPr/>
            </p:nvSpPr>
            <p:spPr>
              <a:xfrm>
                <a:off x="5062999" y="3739492"/>
                <a:ext cx="14114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</a:t>
                </a:r>
                <a:endParaRPr lang="x-none" sz="1600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="" xmlns:a16="http://schemas.microsoft.com/office/drawing/2014/main" id="{4A1B9A45-0201-4991-8C35-96DAF815697C}"/>
                  </a:ext>
                </a:extLst>
              </p:cNvPr>
              <p:cNvSpPr/>
              <p:nvPr/>
            </p:nvSpPr>
            <p:spPr>
              <a:xfrm>
                <a:off x="4733097" y="2514452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="" xmlns:a16="http://schemas.microsoft.com/office/drawing/2014/main" id="{2A1484F7-3EC8-4E72-A154-C9EE1F623752}"/>
                  </a:ext>
                </a:extLst>
              </p:cNvPr>
              <p:cNvSpPr/>
              <p:nvPr/>
            </p:nvSpPr>
            <p:spPr>
              <a:xfrm>
                <a:off x="6028149" y="2504516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="" xmlns:a16="http://schemas.microsoft.com/office/drawing/2014/main" id="{9E2E1994-6F19-4933-8B92-4FB8F2300110}"/>
                  </a:ext>
                </a:extLst>
              </p:cNvPr>
              <p:cNvSpPr/>
              <p:nvPr/>
            </p:nvSpPr>
            <p:spPr>
              <a:xfrm>
                <a:off x="6690910" y="3650458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="" xmlns:a16="http://schemas.microsoft.com/office/drawing/2014/main" id="{D56FACC6-265C-4081-A572-E6BC2C1D8FBF}"/>
                  </a:ext>
                </a:extLst>
              </p:cNvPr>
              <p:cNvSpPr/>
              <p:nvPr/>
            </p:nvSpPr>
            <p:spPr>
              <a:xfrm>
                <a:off x="6068210" y="4756097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="" xmlns:a16="http://schemas.microsoft.com/office/drawing/2014/main" id="{58607F59-4B4C-4371-A76E-4866D192DE66}"/>
                  </a:ext>
                </a:extLst>
              </p:cNvPr>
              <p:cNvSpPr/>
              <p:nvPr/>
            </p:nvSpPr>
            <p:spPr>
              <a:xfrm>
                <a:off x="4742294" y="4716484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="" xmlns:a16="http://schemas.microsoft.com/office/drawing/2014/main" id="{F33D3193-E65D-474D-ADFC-AA09910CBC4F}"/>
                  </a:ext>
                </a:extLst>
              </p:cNvPr>
              <p:cNvSpPr/>
              <p:nvPr/>
            </p:nvSpPr>
            <p:spPr>
              <a:xfrm>
                <a:off x="4088092" y="3681691"/>
                <a:ext cx="762691" cy="6966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60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="" xmlns:a16="http://schemas.microsoft.com/office/drawing/2014/main" id="{5DA8BCA7-92EB-43F2-805B-C38FA9670527}"/>
                  </a:ext>
                </a:extLst>
              </p:cNvPr>
              <p:cNvSpPr txBox="1"/>
              <p:nvPr/>
            </p:nvSpPr>
            <p:spPr>
              <a:xfrm>
                <a:off x="7269427" y="2317065"/>
                <a:ext cx="2798181" cy="35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 Assignments</a:t>
                </a:r>
                <a:endParaRPr lang="x-none" sz="16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820A9AD6-DCEF-468E-8BD3-4041360B97B4}"/>
                  </a:ext>
                </a:extLst>
              </p:cNvPr>
              <p:cNvSpPr txBox="1"/>
              <p:nvPr/>
            </p:nvSpPr>
            <p:spPr>
              <a:xfrm>
                <a:off x="1955486" y="2325540"/>
                <a:ext cx="1955655" cy="35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 Exams</a:t>
                </a:r>
                <a:endParaRPr lang="x-none" sz="16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="" xmlns:a16="http://schemas.microsoft.com/office/drawing/2014/main" id="{B5FAF765-C7E5-4B8C-B743-27CCC13653A4}"/>
                  </a:ext>
                </a:extLst>
              </p:cNvPr>
              <p:cNvSpPr txBox="1"/>
              <p:nvPr/>
            </p:nvSpPr>
            <p:spPr>
              <a:xfrm>
                <a:off x="1371779" y="3798374"/>
                <a:ext cx="23434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Admin Duties</a:t>
                </a:r>
                <a:endParaRPr lang="x-none" sz="16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="" xmlns:a16="http://schemas.microsoft.com/office/drawing/2014/main" id="{B8F930C7-CB46-4AEA-97D0-E25B294C29B1}"/>
                  </a:ext>
                </a:extLst>
              </p:cNvPr>
              <p:cNvSpPr txBox="1"/>
              <p:nvPr/>
            </p:nvSpPr>
            <p:spPr>
              <a:xfrm>
                <a:off x="2128179" y="5263813"/>
                <a:ext cx="2164739" cy="35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Publish Research</a:t>
                </a:r>
                <a:endParaRPr lang="x-none" sz="16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="" xmlns:a16="http://schemas.microsoft.com/office/drawing/2014/main" id="{F4E519E0-0006-47EE-B8ED-772694316AB8}"/>
                  </a:ext>
                </a:extLst>
              </p:cNvPr>
              <p:cNvSpPr txBox="1"/>
              <p:nvPr/>
            </p:nvSpPr>
            <p:spPr>
              <a:xfrm>
                <a:off x="7902387" y="3765568"/>
                <a:ext cx="2151424" cy="35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Submit Result</a:t>
                </a:r>
                <a:endParaRPr lang="x-none" sz="16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="" xmlns:a16="http://schemas.microsoft.com/office/drawing/2014/main" id="{04B5D477-346F-49D3-B3F7-6A006F038375}"/>
                  </a:ext>
                </a:extLst>
              </p:cNvPr>
              <p:cNvSpPr txBox="1"/>
              <p:nvPr/>
            </p:nvSpPr>
            <p:spPr>
              <a:xfrm>
                <a:off x="7168791" y="5243725"/>
                <a:ext cx="2458454" cy="35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Deliver Lectures</a:t>
                </a:r>
                <a:endParaRPr lang="x-none" sz="1600" dirty="0"/>
              </a:p>
            </p:txBody>
          </p:sp>
        </p:grpSp>
        <p:pic>
          <p:nvPicPr>
            <p:cNvPr id="3" name="Graphic 2" descr="Document">
              <a:extLst>
                <a:ext uri="{FF2B5EF4-FFF2-40B4-BE49-F238E27FC236}">
                  <a16:creationId xmlns="" xmlns:a16="http://schemas.microsoft.com/office/drawing/2014/main" id="{7064E522-964B-497C-BAEC-A3B3AF6C7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5222" y="3221733"/>
              <a:ext cx="571058" cy="571058"/>
            </a:xfrm>
            <a:prstGeom prst="rect">
              <a:avLst/>
            </a:prstGeom>
          </p:spPr>
        </p:pic>
        <p:pic>
          <p:nvPicPr>
            <p:cNvPr id="8" name="Graphic 7" descr="Pencil">
              <a:extLst>
                <a:ext uri="{FF2B5EF4-FFF2-40B4-BE49-F238E27FC236}">
                  <a16:creationId xmlns="" xmlns:a16="http://schemas.microsoft.com/office/drawing/2014/main" id="{68117DEA-0241-47FD-B29D-D011B4982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93472" y="3261549"/>
              <a:ext cx="564883" cy="564883"/>
            </a:xfrm>
            <a:prstGeom prst="rect">
              <a:avLst/>
            </a:prstGeom>
          </p:spPr>
        </p:pic>
        <p:pic>
          <p:nvPicPr>
            <p:cNvPr id="12" name="Graphic 11" descr="Lecturer">
              <a:extLst>
                <a:ext uri="{FF2B5EF4-FFF2-40B4-BE49-F238E27FC236}">
                  <a16:creationId xmlns="" xmlns:a16="http://schemas.microsoft.com/office/drawing/2014/main" id="{694FD31A-9BAF-4DBD-BA69-F845A0278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13748" y="4405804"/>
              <a:ext cx="597117" cy="597117"/>
            </a:xfrm>
            <a:prstGeom prst="rect">
              <a:avLst/>
            </a:prstGeom>
          </p:spPr>
        </p:pic>
        <p:pic>
          <p:nvPicPr>
            <p:cNvPr id="15" name="Graphic 14" descr="Teacher">
              <a:extLst>
                <a:ext uri="{FF2B5EF4-FFF2-40B4-BE49-F238E27FC236}">
                  <a16:creationId xmlns="" xmlns:a16="http://schemas.microsoft.com/office/drawing/2014/main" id="{1B636F44-7F49-4C48-A84D-0EEE454EE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677331" y="5436456"/>
              <a:ext cx="637472" cy="637472"/>
            </a:xfrm>
            <a:prstGeom prst="rect">
              <a:avLst/>
            </a:prstGeom>
          </p:spPr>
        </p:pic>
        <p:pic>
          <p:nvPicPr>
            <p:cNvPr id="19" name="Graphic 18" descr="Books">
              <a:extLst>
                <a:ext uri="{FF2B5EF4-FFF2-40B4-BE49-F238E27FC236}">
                  <a16:creationId xmlns="" xmlns:a16="http://schemas.microsoft.com/office/drawing/2014/main" id="{4DBCEE17-D693-44B5-9D20-717FCB192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38517" y="4347358"/>
              <a:ext cx="601234" cy="601234"/>
            </a:xfrm>
            <a:prstGeom prst="rect">
              <a:avLst/>
            </a:prstGeom>
          </p:spPr>
        </p:pic>
        <p:pic>
          <p:nvPicPr>
            <p:cNvPr id="23" name="Graphic 22" descr="Blackboard">
              <a:extLst>
                <a:ext uri="{FF2B5EF4-FFF2-40B4-BE49-F238E27FC236}">
                  <a16:creationId xmlns="" xmlns:a16="http://schemas.microsoft.com/office/drawing/2014/main" id="{65BF92DB-13CF-4EF6-AB20-0B4E85DDF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33882" y="5413450"/>
              <a:ext cx="676405" cy="6764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917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679626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0739717" y="4906200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E4CDEC-4554-4F29-BEDB-7468FAF0C7D5}"/>
              </a:ext>
            </a:extLst>
          </p:cNvPr>
          <p:cNvSpPr txBox="1"/>
          <p:nvPr/>
        </p:nvSpPr>
        <p:spPr>
          <a:xfrm>
            <a:off x="3571381" y="2918755"/>
            <a:ext cx="5293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Question?</a:t>
            </a:r>
            <a:endParaRPr lang="x-non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2" y="-192505"/>
            <a:ext cx="4010732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0" y="155009"/>
            <a:ext cx="351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Strain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="" xmlns:a16="http://schemas.microsoft.com/office/drawing/2014/main" id="{38CDB71D-B03C-4A46-BB80-B8AFF8319AB6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6218303" y="3726626"/>
            <a:ext cx="3740261" cy="363037"/>
          </a:xfrm>
          <a:prstGeom prst="bentConnector2">
            <a:avLst/>
          </a:prstGeom>
          <a:ln>
            <a:solidFill>
              <a:srgbClr val="73B14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="" xmlns:a16="http://schemas.microsoft.com/office/drawing/2014/main" id="{0A3D4576-1376-447D-AC30-BBAE501A36B5}"/>
              </a:ext>
            </a:extLst>
          </p:cNvPr>
          <p:cNvCxnSpPr>
            <a:cxnSpLocks/>
          </p:cNvCxnSpPr>
          <p:nvPr/>
        </p:nvCxnSpPr>
        <p:spPr>
          <a:xfrm rot="5400000">
            <a:off x="3791346" y="1654552"/>
            <a:ext cx="701088" cy="4152827"/>
          </a:xfrm>
          <a:prstGeom prst="bentConnector3">
            <a:avLst>
              <a:gd name="adj1" fmla="val 50000"/>
            </a:avLst>
          </a:prstGeom>
          <a:ln>
            <a:solidFill>
              <a:srgbClr val="73B1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383DDBCB-EE98-4D82-99A6-4B70C10A5BBE}"/>
              </a:ext>
            </a:extLst>
          </p:cNvPr>
          <p:cNvSpPr txBox="1"/>
          <p:nvPr/>
        </p:nvSpPr>
        <p:spPr>
          <a:xfrm>
            <a:off x="616816" y="1218776"/>
            <a:ext cx="10958368" cy="166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73B149"/>
              </a:buClr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socialization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internalize role expectations from family, school, peers, and media. </a:t>
            </a:r>
          </a:p>
          <a:p>
            <a:pPr algn="just">
              <a:buClr>
                <a:srgbClr val="73B149"/>
              </a:buClr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73B149"/>
              </a:buClr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these expectations clash (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conflict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overwhelm (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strain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socialization process becomes stressful.</a:t>
            </a:r>
          </a:p>
          <a:p>
            <a:pPr marL="285750" indent="-285750" algn="just">
              <a:lnSpc>
                <a:spcPct val="200000"/>
              </a:lnSpc>
              <a:buClr>
                <a:srgbClr val="73B149"/>
              </a:buClr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leads to burnout and emotional exhaustion.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4A8F0D6A-95BD-47D3-B39D-29B4A6613F65}"/>
              </a:ext>
            </a:extLst>
          </p:cNvPr>
          <p:cNvGrpSpPr/>
          <p:nvPr/>
        </p:nvGrpSpPr>
        <p:grpSpPr>
          <a:xfrm>
            <a:off x="8162592" y="4089663"/>
            <a:ext cx="3591944" cy="982461"/>
            <a:chOff x="7876671" y="3092869"/>
            <a:chExt cx="4042610" cy="982461"/>
          </a:xfrm>
          <a:solidFill>
            <a:srgbClr val="92D050"/>
          </a:solidFill>
        </p:grpSpPr>
        <p:sp>
          <p:nvSpPr>
            <p:cNvPr id="39" name="Rectangle: Rounded Corners 38">
              <a:extLst>
                <a:ext uri="{FF2B5EF4-FFF2-40B4-BE49-F238E27FC236}">
                  <a16:creationId xmlns="" xmlns:a16="http://schemas.microsoft.com/office/drawing/2014/main" id="{2D1C609C-1133-47E0-B763-CF03F92C2D9A}"/>
                </a:ext>
              </a:extLst>
            </p:cNvPr>
            <p:cNvSpPr/>
            <p:nvPr/>
          </p:nvSpPr>
          <p:spPr>
            <a:xfrm>
              <a:off x="7876671" y="3092869"/>
              <a:ext cx="4042610" cy="982461"/>
            </a:xfrm>
            <a:prstGeom prst="roundRec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A23DC748-E1F6-415C-971F-C593F4C63F61}"/>
                </a:ext>
              </a:extLst>
            </p:cNvPr>
            <p:cNvSpPr txBox="1"/>
            <p:nvPr/>
          </p:nvSpPr>
          <p:spPr>
            <a:xfrm>
              <a:off x="8686799" y="3151442"/>
              <a:ext cx="2534652" cy="369332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Daughter</a:t>
              </a:r>
              <a:endParaRPr lang="x-non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7487EDE5-A09D-49A5-85DC-AAB8A6529C8F}"/>
                </a:ext>
              </a:extLst>
            </p:cNvPr>
            <p:cNvSpPr txBox="1"/>
            <p:nvPr/>
          </p:nvSpPr>
          <p:spPr>
            <a:xfrm>
              <a:off x="8117305" y="3429000"/>
              <a:ext cx="3673642" cy="584775"/>
            </a:xfrm>
            <a:prstGeom prst="rect">
              <a:avLst/>
            </a:prstGeom>
            <a:grp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Guests arrive unexpectedly and mother expects you to help.</a:t>
              </a:r>
              <a:endParaRPr lang="x-none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CE09CAA9-7ABE-443C-83E9-4241645CD36D}"/>
              </a:ext>
            </a:extLst>
          </p:cNvPr>
          <p:cNvGrpSpPr/>
          <p:nvPr/>
        </p:nvGrpSpPr>
        <p:grpSpPr>
          <a:xfrm>
            <a:off x="336760" y="4077604"/>
            <a:ext cx="3360816" cy="982461"/>
            <a:chOff x="8029072" y="3245269"/>
            <a:chExt cx="4042611" cy="982461"/>
          </a:xfrm>
          <a:solidFill>
            <a:srgbClr val="92D050"/>
          </a:solidFill>
        </p:grpSpPr>
        <p:sp>
          <p:nvSpPr>
            <p:cNvPr id="43" name="Rectangle: Rounded Corners 42">
              <a:extLst>
                <a:ext uri="{FF2B5EF4-FFF2-40B4-BE49-F238E27FC236}">
                  <a16:creationId xmlns="" xmlns:a16="http://schemas.microsoft.com/office/drawing/2014/main" id="{9E8D2DD4-5249-43E4-9254-C8551118AE61}"/>
                </a:ext>
              </a:extLst>
            </p:cNvPr>
            <p:cNvSpPr/>
            <p:nvPr/>
          </p:nvSpPr>
          <p:spPr>
            <a:xfrm>
              <a:off x="8029072" y="3245269"/>
              <a:ext cx="4042611" cy="982461"/>
            </a:xfrm>
            <a:prstGeom prst="roundRect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96732968-83D0-4BA3-AE84-7CBDA349E8CD}"/>
                </a:ext>
              </a:extLst>
            </p:cNvPr>
            <p:cNvSpPr txBox="1"/>
            <p:nvPr/>
          </p:nvSpPr>
          <p:spPr>
            <a:xfrm>
              <a:off x="8630656" y="3249173"/>
              <a:ext cx="2955658" cy="36933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  <a:endParaRPr lang="x-non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A48F7B8-8297-4787-BED6-1D5D2F696C7A}"/>
                </a:ext>
              </a:extLst>
            </p:cNvPr>
            <p:cNvSpPr txBox="1"/>
            <p:nvPr/>
          </p:nvSpPr>
          <p:spPr>
            <a:xfrm>
              <a:off x="8213556" y="3586880"/>
              <a:ext cx="367364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Preparing for your important quiz.</a:t>
              </a:r>
              <a:endParaRPr lang="x-none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0CF0455E-E0FA-41F7-87AD-EAC06B940D18}"/>
              </a:ext>
            </a:extLst>
          </p:cNvPr>
          <p:cNvSpPr txBox="1"/>
          <p:nvPr/>
        </p:nvSpPr>
        <p:spPr>
          <a:xfrm>
            <a:off x="3294066" y="5723440"/>
            <a:ext cx="5293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a role conflict or role strain ???</a:t>
            </a:r>
            <a:endParaRPr lang="x-non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11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17883" y="1440780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918982" y="-1246366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1025634" y="3659611"/>
            <a:ext cx="6698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2193790" y="4356865"/>
            <a:ext cx="290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Walisha Tahir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4374904" y="4356865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2225165031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34E71D8-3A9A-4778-A0FC-8E54FFEB4E0C}"/>
              </a:ext>
            </a:extLst>
          </p:cNvPr>
          <p:cNvSpPr txBox="1"/>
          <p:nvPr/>
        </p:nvSpPr>
        <p:spPr>
          <a:xfrm>
            <a:off x="2943178" y="3021432"/>
            <a:ext cx="315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8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6142" y="1332139"/>
            <a:ext cx="11183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is made up of individuals with different roles.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role comes with expectations and responsibilities.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roles helps explain human behaviour and social order.</a:t>
            </a:r>
          </a:p>
        </p:txBody>
      </p:sp>
      <p:pic>
        <p:nvPicPr>
          <p:cNvPr id="5122" name="Picture 2" descr="Social Structure, Groups, and Organizations – Introduction to Sociolog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775" y="2913721"/>
            <a:ext cx="5323803" cy="314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40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975" y="1332139"/>
            <a:ext cx="103049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Expectations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 to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duties, and responsibilities that society expects from a person based on their social position (status).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teacher is expected to educate students, maintain discipline, and guide them properly.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is expected to study, respect teachers, and follow rules. These expectations are shaped by cultural norms, values, and traditions.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57" y="3086465"/>
            <a:ext cx="5368558" cy="357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5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31871" y="1138127"/>
            <a:ext cx="84566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shaped by culture, norms, and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expectations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about how a person should behave.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teacher, student, parent).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882" y="2140087"/>
            <a:ext cx="112452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Performance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person actually behaves in their role. It may or may not fully match the expectations.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a teacher might be expected to be punctual and organized, but in reality, they may sometimes come late or be less prepared. This difference shows that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performance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vary from person to person.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may be expected to study daily but may procrastinate. 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manager may be expected to lead well but may lack leadership skills.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446" y="3685038"/>
            <a:ext cx="3996696" cy="26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2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1872" y="1154776"/>
            <a:ext cx="108233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Expectation and Performance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90234"/>
              </p:ext>
            </p:extLst>
          </p:nvPr>
        </p:nvGraphicFramePr>
        <p:xfrm>
          <a:off x="681318" y="2004997"/>
          <a:ext cx="10573870" cy="2070296"/>
        </p:xfrm>
        <a:graphic>
          <a:graphicData uri="http://schemas.openxmlformats.org/drawingml/2006/table">
            <a:tbl>
              <a:tblPr/>
              <a:tblGrid>
                <a:gridCol w="5286935">
                  <a:extLst>
                    <a:ext uri="{9D8B030D-6E8A-4147-A177-3AD203B41FA5}">
                      <a16:colId xmlns="" xmlns:a16="http://schemas.microsoft.com/office/drawing/2014/main" val="3139878681"/>
                    </a:ext>
                  </a:extLst>
                </a:gridCol>
                <a:gridCol w="5286935">
                  <a:extLst>
                    <a:ext uri="{9D8B030D-6E8A-4147-A177-3AD203B41FA5}">
                      <a16:colId xmlns="" xmlns:a16="http://schemas.microsoft.com/office/drawing/2014/main" val="4224992853"/>
                    </a:ext>
                  </a:extLst>
                </a:gridCol>
              </a:tblGrid>
              <a:tr h="517574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Expectations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6348305"/>
                  </a:ext>
                </a:extLst>
              </a:tr>
              <a:tr h="517574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 </a:t>
                      </a: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41736631"/>
                  </a:ext>
                </a:extLst>
              </a:tr>
              <a:tr h="517574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by society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Done by individual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46075040"/>
                  </a:ext>
                </a:extLst>
              </a:tr>
              <a:tr h="517574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standards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vary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0354779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0301" y="2004997"/>
            <a:ext cx="4779205" cy="20560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458484" y="2022927"/>
            <a:ext cx="4779205" cy="20560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691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6172" y="1779733"/>
            <a:ext cx="754828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Student Role Conflict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university student is expected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 classes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assignments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exams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same student: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part-time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family responsibilities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6172" y="4589936"/>
            <a:ext cx="107621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may fail to meet expectations fully.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a gap between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expectation and role performance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82081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883" y="1330468"/>
            <a:ext cx="97625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Mother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Expectations: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care of children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household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well at job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feel stress balancing both roles 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one role is prioritized over another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8250" y="38790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strain and pressure</a:t>
            </a:r>
          </a:p>
        </p:txBody>
      </p:sp>
      <p:pic>
        <p:nvPicPr>
          <p:cNvPr id="7170" name="Picture 2" descr="Mother roles Images - Free Download on Freepi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359" y="977711"/>
            <a:ext cx="4261970" cy="532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042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888116" y="387902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5051602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7315201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0103" y="188748"/>
            <a:ext cx="6914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Role Expectation and Performance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4423" y="1797710"/>
            <a:ext cx="7185211" cy="1209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in Society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and stability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individuals understand their responsibilities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confusion in social interactions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4423" y="3115225"/>
            <a:ext cx="91753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expectations guide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performance shows real 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essential for socialization and functioning of society.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them helps reduce conflict and improve social harmony.</a:t>
            </a:r>
          </a:p>
        </p:txBody>
      </p:sp>
    </p:spTree>
    <p:extLst>
      <p:ext uri="{BB962C8B-B14F-4D97-AF65-F5344CB8AC3E}">
        <p14:creationId xmlns:p14="http://schemas.microsoft.com/office/powerpoint/2010/main" val="628234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17883" y="1440780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918982" y="-1246366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1025634" y="3659611"/>
            <a:ext cx="6698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Status and Master Status?</a:t>
            </a:r>
            <a:endParaRPr lang="x-none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2193790" y="4356865"/>
            <a:ext cx="290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Nimra Khan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4374904" y="4356865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2225165021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34E71D8-3A9A-4778-A0FC-8E54FFEB4E0C}"/>
              </a:ext>
            </a:extLst>
          </p:cNvPr>
          <p:cNvSpPr txBox="1"/>
          <p:nvPr/>
        </p:nvSpPr>
        <p:spPr>
          <a:xfrm>
            <a:off x="2943178" y="3021432"/>
            <a:ext cx="315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598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19577" y="188748"/>
            <a:ext cx="2398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590590" y="163605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What is Status?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590590" y="25431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Status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is a person’s position or role within society. It helps define: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0590" y="3161240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Who we are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What role we perform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What behavior is expected from us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0590" y="466369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People usually hold </a:t>
            </a: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multiple statuses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at the same time (e.g., sibling, worker, community member).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703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33826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40983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206757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78217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19577" y="203036"/>
            <a:ext cx="2398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590590" y="165033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590590" y="25574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0590" y="3175528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0590" y="46779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90" y="2069940"/>
            <a:ext cx="3596313" cy="2037844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20444" y="180618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Example of Status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9997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Consider a girl who simultaneously holds different roles: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66955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Daughter at home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Student at university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Friend in her social circle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1832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Each of these is a distinct </a:t>
            </a: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status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different expectations apply in each setting.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62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-238472" y="168323"/>
            <a:ext cx="347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8569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52667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0403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0"/>
          <p:cNvSpPr/>
          <p:nvPr/>
        </p:nvSpPr>
        <p:spPr>
          <a:xfrm>
            <a:off x="1854674" y="1829517"/>
            <a:ext cx="49346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What is Master Status?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1854674" y="27366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Master status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is the single most important status that becomes a person’s main identity. It: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854674" y="3717610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Dominates other roles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Shapes how others see and interact with the person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Can be positive or negative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65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-238472" y="168323"/>
            <a:ext cx="347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8569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52667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0403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86" y="2077069"/>
            <a:ext cx="4279366" cy="2424934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432755" y="1573711"/>
            <a:ext cx="6468936" cy="108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Example 1 — Student as Master Status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307358" y="2898043"/>
            <a:ext cx="6468936" cy="104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A university girl may be a daughter and friend, but within the university context she’s mainly seen as a </a:t>
            </a: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student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For classmates and teachers, that role becomes her </a:t>
            </a: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master status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307358" y="4098898"/>
            <a:ext cx="6468936" cy="1274752"/>
          </a:xfrm>
          <a:prstGeom prst="roundRect">
            <a:avLst>
              <a:gd name="adj" fmla="val 2565"/>
            </a:avLst>
          </a:prstGeom>
          <a:solidFill>
            <a:srgbClr val="73B149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543" y="4627309"/>
            <a:ext cx="272385" cy="217931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5830848" y="4366880"/>
            <a:ext cx="5568415" cy="69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Master status here highlights expected behaviors like attending class, studying, and submitting assignments.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999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-238472" y="168323"/>
            <a:ext cx="347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8569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52667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0403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983" y="2256824"/>
            <a:ext cx="2948183" cy="1670582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060508" y="1323549"/>
            <a:ext cx="7604284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Example 2 — Manager in Professional Life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060508" y="2684315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 woman might be a mother and neighbor, but at work she is primarily known as a  </a:t>
            </a:r>
            <a:r>
              <a:rPr lang="en-US" sz="1750" dirty="0" smtClean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manager 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That status becomes her master status in professional settings, influencing how others treat and expect leadership from her.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4060508" y="4391075"/>
            <a:ext cx="7604284" cy="1326713"/>
          </a:xfrm>
          <a:prstGeom prst="roundRect">
            <a:avLst>
              <a:gd name="adj" fmla="val 2565"/>
            </a:avLst>
          </a:prstGeom>
          <a:solidFill>
            <a:srgbClr val="73B149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7322" y="4735166"/>
            <a:ext cx="283488" cy="226814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4797623" y="4674563"/>
            <a:ext cx="6640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This master status can boost authority and confidence, shaping interactions and opportunities.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135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-238472" y="168323"/>
            <a:ext cx="347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8569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52667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0403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32" y="2303383"/>
            <a:ext cx="3061849" cy="1734991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263789" y="1919538"/>
            <a:ext cx="70855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Example 3 — Famous Personality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263789" y="271332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Babar Azam is a son and citizen, but most people recognize him as a </a:t>
            </a:r>
            <a:r>
              <a:rPr lang="en-US" sz="1750" b="1" dirty="0">
                <a:solidFill>
                  <a:schemeClr val="accent6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cricketer</a:t>
            </a:r>
            <a:r>
              <a:rPr lang="en-US" sz="1750" dirty="0">
                <a:solidFill>
                  <a:schemeClr val="accent6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His public identity — his master status — is shaped by that role.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4263789" y="3694283"/>
            <a:ext cx="7604284" cy="1326713"/>
          </a:xfrm>
          <a:prstGeom prst="roundRect">
            <a:avLst>
              <a:gd name="adj" fmla="val 2565"/>
            </a:avLst>
          </a:prstGeom>
          <a:solidFill>
            <a:srgbClr val="73B149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0603" y="4038374"/>
            <a:ext cx="283488" cy="226814"/>
          </a:xfrm>
          <a:prstGeom prst="rect">
            <a:avLst/>
          </a:prstGeom>
        </p:spPr>
      </p:pic>
      <p:sp>
        <p:nvSpPr>
          <p:cNvPr id="30" name="Text 3"/>
          <p:cNvSpPr/>
          <p:nvPr/>
        </p:nvSpPr>
        <p:spPr>
          <a:xfrm>
            <a:off x="5000904" y="3977771"/>
            <a:ext cx="6640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Master status for public figures often defines their social influence and public expectations.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919538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49317" y="5226695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3" y="-192505"/>
            <a:ext cx="332071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-238472" y="168323"/>
            <a:ext cx="347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20444" y="258569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20444" y="3152667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20444" y="460403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150" y="241075"/>
            <a:ext cx="6212760" cy="3520543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012385" y="4227206"/>
            <a:ext cx="475892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Example 4 — Negative Master Status</a:t>
            </a:r>
            <a:endParaRPr lang="en-US" sz="21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1012385" y="4699051"/>
            <a:ext cx="9537383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Someone may be a father, employee, and neighbor. But if they commit a crime, society might label them a </a:t>
            </a:r>
            <a:r>
              <a:rPr lang="en-US" sz="1050" b="1" dirty="0">
                <a:solidFill>
                  <a:srgbClr val="3257B8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criminal</a:t>
            </a:r>
            <a:r>
              <a:rPr lang="en-US" sz="10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That label can become their master status and strongly affect how others treat them.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012385" y="5149464"/>
            <a:ext cx="9537383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Master status can be positive or negative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It influences social treatment, opportunities, and self-identity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20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17883" y="1440780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918982" y="-1246366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1190235" y="3729318"/>
            <a:ext cx="6698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Ascribed Status</a:t>
            </a:r>
            <a:endParaRPr lang="x-none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2193790" y="4356865"/>
            <a:ext cx="290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Laiba Zafar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4374904" y="4356865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2225165014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34E71D8-3A9A-4778-A0FC-8E54FFEB4E0C}"/>
              </a:ext>
            </a:extLst>
          </p:cNvPr>
          <p:cNvSpPr txBox="1"/>
          <p:nvPr/>
        </p:nvSpPr>
        <p:spPr>
          <a:xfrm>
            <a:off x="2740238" y="3075057"/>
            <a:ext cx="363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Status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72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50763" y="224423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638075" y="224423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4058656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19577" y="192469"/>
            <a:ext cx="306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Ascribed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1586270" y="1688505"/>
            <a:ext cx="66872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What is Ascribed Status?</a:t>
            </a:r>
            <a:endParaRPr lang="en-US" sz="44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586270" y="271470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Ascribed status is a social position a person is assigned at birth or receives involuntarily later in life. It is not chosen and typically cannot be changed by the individual's actions.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1586270" y="4058563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73B1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3084" y="4402653"/>
            <a:ext cx="283488" cy="226814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2323386" y="4342051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Key idea: Ascribed = assigned by birth or circumstances beyond personal control.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0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50763" y="224423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638075" y="224423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5362344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549668" y="-177999"/>
            <a:ext cx="3878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Characteristics of Ascribed Status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744260" y="588407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1231940" y="1240988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73B149"/>
          </a:solidFill>
          <a:ln/>
        </p:spPr>
      </p:sp>
      <p:sp>
        <p:nvSpPr>
          <p:cNvPr id="16" name="Text 2"/>
          <p:cNvSpPr/>
          <p:nvPr/>
        </p:nvSpPr>
        <p:spPr>
          <a:xfrm>
            <a:off x="1444585" y="1453634"/>
            <a:ext cx="2658070" cy="332303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Given Naturally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444585" y="1905476"/>
            <a:ext cx="7230189" cy="329565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Assigned based on birth, family, or innate traits rather than choice.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1231940" y="2646998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73B149"/>
          </a:solidFill>
          <a:ln/>
        </p:spPr>
      </p:sp>
      <p:sp>
        <p:nvSpPr>
          <p:cNvPr id="19" name="Text 5"/>
          <p:cNvSpPr/>
          <p:nvPr/>
        </p:nvSpPr>
        <p:spPr>
          <a:xfrm>
            <a:off x="1444585" y="2859643"/>
            <a:ext cx="2658070" cy="332303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Not Based on Effort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444585" y="3311485"/>
            <a:ext cx="7230189" cy="329565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 personal achievement required to hold this status.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231940" y="4053007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73B149"/>
          </a:solidFill>
          <a:ln/>
        </p:spPr>
      </p:sp>
      <p:sp>
        <p:nvSpPr>
          <p:cNvPr id="22" name="Text 8"/>
          <p:cNvSpPr/>
          <p:nvPr/>
        </p:nvSpPr>
        <p:spPr>
          <a:xfrm>
            <a:off x="1444585" y="4265652"/>
            <a:ext cx="2658070" cy="332303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Mostly Fixed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1444585" y="4717494"/>
            <a:ext cx="7230189" cy="329565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Often stable across a person’s life, though social meanings can change.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1231940" y="5459016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73B149"/>
          </a:solidFill>
          <a:ln/>
        </p:spPr>
      </p:sp>
      <p:sp>
        <p:nvSpPr>
          <p:cNvPr id="25" name="Text 11"/>
          <p:cNvSpPr/>
          <p:nvPr/>
        </p:nvSpPr>
        <p:spPr>
          <a:xfrm>
            <a:off x="1444585" y="5671661"/>
            <a:ext cx="3470791" cy="332303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Depends on Natural Factors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1444585" y="6123503"/>
            <a:ext cx="7230189" cy="329565"/>
          </a:xfrm>
          <a:prstGeom prst="rect">
            <a:avLst/>
          </a:prstGeom>
          <a:solidFill>
            <a:srgbClr val="73B149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Examples: birth family, ethnicity, sex assigned at birth, and nationality.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108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50763" y="224423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638075" y="224423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5362344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98868" y="132594"/>
            <a:ext cx="3878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744260" y="588407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0"/>
          <p:cNvSpPr/>
          <p:nvPr/>
        </p:nvSpPr>
        <p:spPr>
          <a:xfrm>
            <a:off x="1911668" y="18539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Common Examples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"/>
          <p:cNvSpPr/>
          <p:nvPr/>
        </p:nvSpPr>
        <p:spPr>
          <a:xfrm>
            <a:off x="1911668" y="2647786"/>
            <a:ext cx="7604284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Gender (male, female, intersex) — often assigned at birth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Age categories (child, adult, elder)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Family background (social class, ancestry)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Nationality or ethnicity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"/>
          <p:cNvSpPr/>
          <p:nvPr/>
        </p:nvSpPr>
        <p:spPr>
          <a:xfrm>
            <a:off x="1911668" y="4541356"/>
            <a:ext cx="760428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These attributes shape expectations and opportunities before a person can make choices that change them.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50763" y="224423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638075" y="224423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5362344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98868" y="132594"/>
            <a:ext cx="3878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744260" y="588407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0"/>
          <p:cNvSpPr/>
          <p:nvPr/>
        </p:nvSpPr>
        <p:spPr>
          <a:xfrm>
            <a:off x="4268510" y="1989516"/>
            <a:ext cx="6895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Simple Real-Life Example</a:t>
            </a:r>
            <a:endParaRPr lang="en-US" sz="44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268510" y="303845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When a baby is born, they automatically become someone's son or daughter. The child does not choose this family relationship — it’s an ascribed status. This status influences early identity and social roles within that family.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268510" y="4745217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73B149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324" y="5089308"/>
            <a:ext cx="283488" cy="226814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5005626" y="5028705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Think about how family expectations or responsibilities can follow a child from birth.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75" y="1610341"/>
            <a:ext cx="2871893" cy="43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64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50763" y="2244234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638075" y="224423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5362344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498868" y="-53920"/>
            <a:ext cx="3544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Gender as an Ascribed Status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6887159" y="2981783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0"/>
          <p:cNvSpPr/>
          <p:nvPr/>
        </p:nvSpPr>
        <p:spPr>
          <a:xfrm>
            <a:off x="1340961" y="1742554"/>
            <a:ext cx="62447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"/>
          <p:cNvSpPr/>
          <p:nvPr/>
        </p:nvSpPr>
        <p:spPr>
          <a:xfrm>
            <a:off x="1128194" y="131311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Many societies assign gender at birth. This assignment often determines initial roles, norms, and expectations even though the individual did not choose it.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128194" y="255627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Contrast:</a:t>
            </a: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Not everyone’s gender identity matches the ascribed category — social meanings can vary and change over time.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639" y="885399"/>
            <a:ext cx="3375215" cy="50628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95680" y="484089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Shapes identity</a:t>
            </a:r>
          </a:p>
          <a:p>
            <a:r>
              <a:rPr lang="en-US" dirty="0" smtClean="0"/>
              <a:t>Affects opportunities</a:t>
            </a:r>
          </a:p>
          <a:p>
            <a:r>
              <a:rPr lang="en-US" dirty="0" smtClean="0"/>
              <a:t>Creates </a:t>
            </a:r>
            <a:r>
              <a:rPr lang="en-US" dirty="0"/>
              <a:t>social </a:t>
            </a:r>
            <a:r>
              <a:rPr lang="en-US" dirty="0" smtClean="0"/>
              <a:t>expectations</a:t>
            </a:r>
          </a:p>
          <a:p>
            <a:r>
              <a:rPr lang="en-US" dirty="0" smtClean="0"/>
              <a:t>Causes inequality</a:t>
            </a:r>
          </a:p>
          <a:p>
            <a:r>
              <a:rPr lang="en-US" dirty="0" smtClean="0"/>
              <a:t>Creates </a:t>
            </a:r>
            <a:r>
              <a:rPr lang="en-US" dirty="0"/>
              <a:t>pressure/stress</a:t>
            </a:r>
          </a:p>
        </p:txBody>
      </p:sp>
      <p:sp>
        <p:nvSpPr>
          <p:cNvPr id="13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889442" y="3489788"/>
            <a:ext cx="5362344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Ascribed Status – Effects (Key Points)</a:t>
            </a:r>
          </a:p>
        </p:txBody>
      </p:sp>
    </p:spTree>
    <p:extLst>
      <p:ext uri="{BB962C8B-B14F-4D97-AF65-F5344CB8AC3E}">
        <p14:creationId xmlns:p14="http://schemas.microsoft.com/office/powerpoint/2010/main" val="1229253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517883" y="1440780"/>
            <a:ext cx="2904565" cy="287767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6918982" y="-1246366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1190235" y="3729318"/>
            <a:ext cx="6698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Status</a:t>
            </a:r>
            <a:endParaRPr lang="x-none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3BC5F7-B523-4446-AFE1-C93DB5DCD7D8}"/>
              </a:ext>
            </a:extLst>
          </p:cNvPr>
          <p:cNvSpPr txBox="1"/>
          <p:nvPr/>
        </p:nvSpPr>
        <p:spPr>
          <a:xfrm>
            <a:off x="2193790" y="4356865"/>
            <a:ext cx="290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Alishba Aymen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7652496" y="2290483"/>
            <a:ext cx="3635188" cy="3505218"/>
          </a:xfrm>
          <a:prstGeom prst="ellipse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304386-00FB-4DE6-80AB-2AADBE2C60CA}"/>
              </a:ext>
            </a:extLst>
          </p:cNvPr>
          <p:cNvSpPr txBox="1"/>
          <p:nvPr/>
        </p:nvSpPr>
        <p:spPr>
          <a:xfrm>
            <a:off x="4374904" y="4356865"/>
            <a:ext cx="24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2225165001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34E71D8-3A9A-4778-A0FC-8E54FFEB4E0C}"/>
              </a:ext>
            </a:extLst>
          </p:cNvPr>
          <p:cNvSpPr txBox="1"/>
          <p:nvPr/>
        </p:nvSpPr>
        <p:spPr>
          <a:xfrm>
            <a:off x="2740238" y="3034336"/>
            <a:ext cx="363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3B1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Status</a:t>
            </a:r>
            <a:endParaRPr lang="x-none" sz="4000" b="1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724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975717" y="1233390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01190" y="5099728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407469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44271" y="228055"/>
            <a:ext cx="306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1789470" y="1696244"/>
            <a:ext cx="6818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What Is Achieved Status?</a:t>
            </a:r>
            <a:endParaRPr lang="en-US" sz="44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89470" y="27451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Achieved status is earned through personal effort, skill, choices, or accomplishments — for example, becoming a doctor, a teacher, or a business owner. Unlike ascribed status, it can usually change during a person’s lifetime.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1789470" y="4451945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73B14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284" y="4796036"/>
            <a:ext cx="283488" cy="226814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2526586" y="4735433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Achieved = earned. Ascribed = assigned.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53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975717" y="1233390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01190" y="5099728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407469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44271" y="228055"/>
            <a:ext cx="306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759" y="1773046"/>
            <a:ext cx="566976" cy="56697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478222" y="1773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Doctor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337944" y="210473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Requires years of education and training — an achieved status.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2996" y="1700517"/>
            <a:ext cx="566976" cy="566976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7363460" y="1700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Teacher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223181" y="2036584"/>
            <a:ext cx="46538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Earned through certification, study, and classroom experience.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59" y="3442897"/>
            <a:ext cx="566976" cy="566976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1478222" y="3442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Business Owner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1337944" y="394333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Built by taking risks, learning skills, and growing a company.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2996" y="3511516"/>
            <a:ext cx="566976" cy="56697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7363460" y="3511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Engineer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7363460" y="3863539"/>
            <a:ext cx="49006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Attained through technical training and professional licensure.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82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1975717" y="1233390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301190" y="5099728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407469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44271" y="228055"/>
            <a:ext cx="306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Status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11" y="2074585"/>
            <a:ext cx="3778210" cy="214091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715828" y="2074585"/>
            <a:ext cx="706112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3B149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Real-Life: From Student to Doctor</a:t>
            </a:r>
            <a:endParaRPr lang="en-US" sz="3550" dirty="0">
              <a:solidFill>
                <a:srgbClr val="73B1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715828" y="2868374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 student studies hard, completes medical school and residency, and becomes a doctor. This status is achieved — it depends on effort, training, and credentials, not on birth.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715828" y="4161155"/>
            <a:ext cx="760428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Effort and persistence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Formal education and certification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Professional responsibilities and recognition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26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DC4AAB66-B5FD-4DD4-90DD-2277119C9FB4}"/>
              </a:ext>
            </a:extLst>
          </p:cNvPr>
          <p:cNvSpPr/>
          <p:nvPr/>
        </p:nvSpPr>
        <p:spPr>
          <a:xfrm>
            <a:off x="-2000411" y="1679626"/>
            <a:ext cx="2319988" cy="2345155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4AA6855-C4D2-4ADB-8BE0-4E23592DC49F}"/>
              </a:ext>
            </a:extLst>
          </p:cNvPr>
          <p:cNvSpPr/>
          <p:nvPr/>
        </p:nvSpPr>
        <p:spPr>
          <a:xfrm>
            <a:off x="11502601" y="1990164"/>
            <a:ext cx="2904565" cy="287767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0DC841A3-216D-4FD2-8B06-D42A76BFC3E4}"/>
              </a:ext>
            </a:extLst>
          </p:cNvPr>
          <p:cNvSpPr/>
          <p:nvPr/>
        </p:nvSpPr>
        <p:spPr>
          <a:xfrm>
            <a:off x="11502601" y="192469"/>
            <a:ext cx="561062" cy="581054"/>
          </a:xfrm>
          <a:prstGeom prst="ellipse">
            <a:avLst/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backgroundMark x1="38438" y1="17500" x2="52344" y2="18385"/>
                          <a14:backgroundMark x1="52344" y1="18385" x2="59896" y2="17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61380B74-50E4-47EC-ABAA-66E48972AECC}"/>
              </a:ext>
            </a:extLst>
          </p:cNvPr>
          <p:cNvSpPr/>
          <p:nvPr/>
        </p:nvSpPr>
        <p:spPr>
          <a:xfrm>
            <a:off x="-160424" y="-192505"/>
            <a:ext cx="4074698" cy="1143391"/>
          </a:xfrm>
          <a:prstGeom prst="roundRect">
            <a:avLst/>
          </a:prstGeom>
          <a:solidFill>
            <a:srgbClr val="73B149"/>
          </a:solidFill>
          <a:ln>
            <a:solidFill>
              <a:srgbClr val="73B1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9574B2-024C-41E4-B9F0-C47E4A1F9CE1}"/>
              </a:ext>
            </a:extLst>
          </p:cNvPr>
          <p:cNvSpPr txBox="1"/>
          <p:nvPr/>
        </p:nvSpPr>
        <p:spPr>
          <a:xfrm>
            <a:off x="319577" y="192469"/>
            <a:ext cx="306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x-none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2FEA948C-5C57-4C11-AD54-AD10F57600EC}"/>
              </a:ext>
            </a:extLst>
          </p:cNvPr>
          <p:cNvGrpSpPr/>
          <p:nvPr/>
        </p:nvGrpSpPr>
        <p:grpSpPr>
          <a:xfrm>
            <a:off x="4643717" y="5350043"/>
            <a:ext cx="2904566" cy="461665"/>
            <a:chOff x="3761871" y="5301916"/>
            <a:chExt cx="3184361" cy="59048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DF8394DF-2DCA-4D41-9644-AC18595FF265}"/>
                </a:ext>
              </a:extLst>
            </p:cNvPr>
            <p:cNvSpPr/>
            <p:nvPr/>
          </p:nvSpPr>
          <p:spPr>
            <a:xfrm>
              <a:off x="3761871" y="5301916"/>
              <a:ext cx="3184361" cy="584775"/>
            </a:xfrm>
            <a:prstGeom prst="roundRect">
              <a:avLst/>
            </a:prstGeom>
            <a:solidFill>
              <a:srgbClr val="73B149"/>
            </a:solidFill>
            <a:ln>
              <a:solidFill>
                <a:srgbClr val="73B1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2A2332FA-7CED-4412-BDE6-478A43C2A70E}"/>
                </a:ext>
              </a:extLst>
            </p:cNvPr>
            <p:cNvSpPr txBox="1"/>
            <p:nvPr/>
          </p:nvSpPr>
          <p:spPr>
            <a:xfrm>
              <a:off x="3880925" y="5301916"/>
              <a:ext cx="3065307" cy="590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 You!</a:t>
              </a:r>
              <a:endParaRPr lang="x-none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442720" y="1944877"/>
            <a:ext cx="83515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is the role or position a person has in society, and one person can have many statuses, like being a daughter, student, and friend.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 status is the most important role that becomes a person’s main identity, such as being known mainly as a doctor or student.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status: ascribed status, which is given by birth like gender and age, and achieved status, which is earned through hard work like becoming a teacher or engineer.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status shows our different roles, while master status shows our main identity in society.</a:t>
            </a:r>
          </a:p>
        </p:txBody>
      </p:sp>
    </p:spTree>
    <p:extLst>
      <p:ext uri="{BB962C8B-B14F-4D97-AF65-F5344CB8AC3E}">
        <p14:creationId xmlns:p14="http://schemas.microsoft.com/office/powerpoint/2010/main" val="263174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2215</Words>
  <Application>Microsoft Office PowerPoint</Application>
  <PresentationFormat>Widescreen</PresentationFormat>
  <Paragraphs>344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Georgia</vt:lpstr>
      <vt:lpstr>Roboto</vt:lpstr>
      <vt:lpstr>Roboto Slab</vt:lpstr>
      <vt:lpstr>Segoe UI Emoji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Mehnoor Fayyaz</dc:creator>
  <cp:lastModifiedBy>HP</cp:lastModifiedBy>
  <cp:revision>157</cp:revision>
  <dcterms:created xsi:type="dcterms:W3CDTF">2026-04-22T15:07:58Z</dcterms:created>
  <dcterms:modified xsi:type="dcterms:W3CDTF">2026-05-10T06:59:45Z</dcterms:modified>
</cp:coreProperties>
</file>